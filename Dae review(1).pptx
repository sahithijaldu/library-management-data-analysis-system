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74" r:id="rId6"/>
    <p:sldId id="279" r:id="rId7"/>
    <p:sldId id="276" r:id="rId8"/>
    <p:sldId id="280" r:id="rId9"/>
    <p:sldId id="278" r:id="rId10"/>
    <p:sldId id="271" r:id="rId11"/>
    <p:sldId id="281" r:id="rId12"/>
    <p:sldId id="285" r:id="rId13"/>
    <p:sldId id="286" r:id="rId14"/>
    <p:sldId id="282" r:id="rId15"/>
    <p:sldId id="26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B50F3A-9F65-4866-A73A-08D986AB7B0C}" v="9" dt="2026-10-23T13:27:38.0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p:scale>
          <a:sx n="80" d="100"/>
          <a:sy n="80" d="100"/>
        </p:scale>
        <p:origin x="1584"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Sahithi" userId="28be606b5a3c1747" providerId="LiveId" clId="{C1E507D0-7643-4241-80D5-6B22B05DAC52}"/>
    <pc:docChg chg="undo custSel addSld delSld modSld">
      <pc:chgData name="J Sahithi" userId="28be606b5a3c1747" providerId="LiveId" clId="{C1E507D0-7643-4241-80D5-6B22B05DAC52}" dt="2026-10-23T13:27:45.237" v="195" actId="1076"/>
      <pc:docMkLst>
        <pc:docMk/>
      </pc:docMkLst>
      <pc:sldChg chg="addSp delSp modSp del mod">
        <pc:chgData name="J Sahithi" userId="28be606b5a3c1747" providerId="LiveId" clId="{C1E507D0-7643-4241-80D5-6B22B05DAC52}" dt="2026-10-23T13:19:25.565" v="61" actId="2696"/>
        <pc:sldMkLst>
          <pc:docMk/>
          <pc:sldMk cId="3799022270" sldId="283"/>
        </pc:sldMkLst>
        <pc:spChg chg="add del mod">
          <ac:chgData name="J Sahithi" userId="28be606b5a3c1747" providerId="LiveId" clId="{C1E507D0-7643-4241-80D5-6B22B05DAC52}" dt="2026-10-23T13:13:11.868" v="2"/>
          <ac:spMkLst>
            <pc:docMk/>
            <pc:sldMk cId="3799022270" sldId="283"/>
            <ac:spMk id="2" creationId="{67A9CD87-7449-952E-7608-F932DAF17D52}"/>
          </ac:spMkLst>
        </pc:spChg>
        <pc:spChg chg="add del mod">
          <ac:chgData name="J Sahithi" userId="28be606b5a3c1747" providerId="LiveId" clId="{C1E507D0-7643-4241-80D5-6B22B05DAC52}" dt="2026-10-23T13:13:14.523" v="5"/>
          <ac:spMkLst>
            <pc:docMk/>
            <pc:sldMk cId="3799022270" sldId="283"/>
            <ac:spMk id="3" creationId="{A2F4F4C8-08E5-9FC0-5442-DC463731C2DC}"/>
          </ac:spMkLst>
        </pc:spChg>
        <pc:spChg chg="add del mod">
          <ac:chgData name="J Sahithi" userId="28be606b5a3c1747" providerId="LiveId" clId="{C1E507D0-7643-4241-80D5-6B22B05DAC52}" dt="2026-10-23T13:14:23.930" v="13" actId="478"/>
          <ac:spMkLst>
            <pc:docMk/>
            <pc:sldMk cId="3799022270" sldId="283"/>
            <ac:spMk id="5" creationId="{35C4E841-BBA9-52B2-73F7-D3E7E20420AD}"/>
          </ac:spMkLst>
        </pc:spChg>
        <pc:spChg chg="add del mod">
          <ac:chgData name="J Sahithi" userId="28be606b5a3c1747" providerId="LiveId" clId="{C1E507D0-7643-4241-80D5-6B22B05DAC52}" dt="2026-10-23T13:14:19.424" v="12"/>
          <ac:spMkLst>
            <pc:docMk/>
            <pc:sldMk cId="3799022270" sldId="283"/>
            <ac:spMk id="6" creationId="{77009448-C513-792D-9F89-CD05BC619FCC}"/>
          </ac:spMkLst>
        </pc:spChg>
      </pc:sldChg>
      <pc:sldChg chg="del">
        <pc:chgData name="J Sahithi" userId="28be606b5a3c1747" providerId="LiveId" clId="{C1E507D0-7643-4241-80D5-6B22B05DAC52}" dt="2026-10-23T13:20:15.466" v="65" actId="2696"/>
        <pc:sldMkLst>
          <pc:docMk/>
          <pc:sldMk cId="895174892" sldId="284"/>
        </pc:sldMkLst>
      </pc:sldChg>
      <pc:sldChg chg="addSp modSp add mod">
        <pc:chgData name="J Sahithi" userId="28be606b5a3c1747" providerId="LiveId" clId="{C1E507D0-7643-4241-80D5-6B22B05DAC52}" dt="2026-10-23T13:27:45.237" v="195" actId="1076"/>
        <pc:sldMkLst>
          <pc:docMk/>
          <pc:sldMk cId="3260424343" sldId="285"/>
        </pc:sldMkLst>
        <pc:spChg chg="add mod">
          <ac:chgData name="J Sahithi" userId="28be606b5a3c1747" providerId="LiveId" clId="{C1E507D0-7643-4241-80D5-6B22B05DAC52}" dt="2026-10-23T13:17:28.437" v="17" actId="1076"/>
          <ac:spMkLst>
            <pc:docMk/>
            <pc:sldMk cId="3260424343" sldId="285"/>
            <ac:spMk id="3" creationId="{C3C045A3-29A8-581F-FA5D-11888DD83A09}"/>
          </ac:spMkLst>
        </pc:spChg>
        <pc:spChg chg="mod">
          <ac:chgData name="J Sahithi" userId="28be606b5a3c1747" providerId="LiveId" clId="{C1E507D0-7643-4241-80D5-6B22B05DAC52}" dt="2026-10-23T13:27:45.237" v="195" actId="1076"/>
          <ac:spMkLst>
            <pc:docMk/>
            <pc:sldMk cId="3260424343" sldId="285"/>
            <ac:spMk id="10" creationId="{8CEE1A88-50DC-901E-7E6F-D4AD3C6124F9}"/>
          </ac:spMkLst>
        </pc:spChg>
        <pc:spChg chg="mod">
          <ac:chgData name="J Sahithi" userId="28be606b5a3c1747" providerId="LiveId" clId="{C1E507D0-7643-4241-80D5-6B22B05DAC52}" dt="2026-10-23T13:17:09.265" v="15" actId="6549"/>
          <ac:spMkLst>
            <pc:docMk/>
            <pc:sldMk cId="3260424343" sldId="285"/>
            <ac:spMk id="12" creationId="{F2407819-681D-FA57-57D4-DF4CFD99FFD2}"/>
          </ac:spMkLst>
        </pc:spChg>
      </pc:sldChg>
      <pc:sldChg chg="addSp delSp modSp add mod">
        <pc:chgData name="J Sahithi" userId="28be606b5a3c1747" providerId="LiveId" clId="{C1E507D0-7643-4241-80D5-6B22B05DAC52}" dt="2026-10-23T13:23:52.424" v="154" actId="1076"/>
        <pc:sldMkLst>
          <pc:docMk/>
          <pc:sldMk cId="1630870687" sldId="286"/>
        </pc:sldMkLst>
        <pc:spChg chg="del">
          <ac:chgData name="J Sahithi" userId="28be606b5a3c1747" providerId="LiveId" clId="{C1E507D0-7643-4241-80D5-6B22B05DAC52}" dt="2026-10-23T13:19:40.864" v="63" actId="478"/>
          <ac:spMkLst>
            <pc:docMk/>
            <pc:sldMk cId="1630870687" sldId="286"/>
            <ac:spMk id="3" creationId="{BBFF46A5-F0AA-C6F5-3E62-B4388FE0323E}"/>
          </ac:spMkLst>
        </pc:spChg>
        <pc:spChg chg="add">
          <ac:chgData name="J Sahithi" userId="28be606b5a3c1747" providerId="LiveId" clId="{C1E507D0-7643-4241-80D5-6B22B05DAC52}" dt="2026-10-23T13:19:49.969" v="64" actId="22"/>
          <ac:spMkLst>
            <pc:docMk/>
            <pc:sldMk cId="1630870687" sldId="286"/>
            <ac:spMk id="4" creationId="{BCBCAB74-548D-D941-08BE-4EAAFF655AE1}"/>
          </ac:spMkLst>
        </pc:spChg>
        <pc:spChg chg="mod">
          <ac:chgData name="J Sahithi" userId="28be606b5a3c1747" providerId="LiveId" clId="{C1E507D0-7643-4241-80D5-6B22B05DAC52}" dt="2026-10-23T13:23:52.424" v="154" actId="1076"/>
          <ac:spMkLst>
            <pc:docMk/>
            <pc:sldMk cId="1630870687" sldId="286"/>
            <ac:spMk id="10" creationId="{6CB288DB-637F-1409-9BBE-CE35B009CB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23-10-2026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997381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527576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06A47-669E-79AE-C186-3702D2F4C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29C18-177E-8341-6E32-3C9C4BC17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03B53-D7C3-817C-83AC-412CFFD2AE8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5935E5-A916-511D-3C28-465F0561D4EA}"/>
              </a:ext>
            </a:extLst>
          </p:cNvPr>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242237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DF12A-DB44-2F6F-9420-EE64CC6DF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026B8-A935-0CA9-F2A2-124C60DB88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6C2D8-AD02-5521-EA27-AEC14F8F4A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1250D1-FB91-42A2-9F81-4A22A00A43B5}"/>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854874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10/23/2026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Analysis Essentials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First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764125"/>
          </a:xfrm>
          <a:prstGeom prst="rect">
            <a:avLst/>
          </a:prstGeom>
        </p:spPr>
        <p:txBody>
          <a:bodyPr vert="horz" wrap="square" lIns="0" tIns="16510" rIns="0" bIns="0" rtlCol="0" anchor="t">
            <a:spAutoFit/>
          </a:bodyPr>
          <a:lstStyle/>
          <a:p>
            <a:pPr algn="ctr">
              <a:lnSpc>
                <a:spcPct val="100000"/>
              </a:lnSpc>
              <a:spcBef>
                <a:spcPts val="130"/>
              </a:spcBef>
            </a:pPr>
            <a:r>
              <a:rPr lang="en-IN" sz="2400" dirty="0"/>
              <a:t>Library Management Data Analysis System</a:t>
            </a:r>
            <a:endParaRPr lang="en-IN" sz="24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marL="3810" algn="ctr">
              <a:spcBef>
                <a:spcPts val="750"/>
              </a:spcBef>
            </a:pPr>
            <a:r>
              <a:rPr lang="en-IN" sz="2000" spc="-10" dirty="0">
                <a:latin typeface="Times New Roman"/>
                <a:cs typeface="Times New Roman"/>
              </a:rPr>
              <a:t>CH. TEJA (25B11AI203)</a:t>
            </a:r>
          </a:p>
          <a:p>
            <a:pPr marL="3810" algn="ctr">
              <a:spcBef>
                <a:spcPts val="750"/>
              </a:spcBef>
            </a:pPr>
            <a:r>
              <a:rPr lang="en-IN" sz="2000" spc="-10" dirty="0">
                <a:latin typeface="Times New Roman"/>
                <a:cs typeface="Times New Roman"/>
              </a:rPr>
              <a:t>J. SAHITHI(25B11AI417)</a:t>
            </a:r>
          </a:p>
          <a:p>
            <a:pPr marL="3810" algn="ctr">
              <a:spcBef>
                <a:spcPts val="750"/>
              </a:spcBef>
            </a:pPr>
            <a:r>
              <a:rPr lang="en-IN" sz="2000" spc="-10" dirty="0">
                <a:latin typeface="Times New Roman"/>
                <a:cs typeface="Times New Roman"/>
              </a:rPr>
              <a:t>K. SOWMYA(25B11AI502)</a:t>
            </a:r>
          </a:p>
          <a:p>
            <a:pPr marL="3810" algn="ctr">
              <a:spcBef>
                <a:spcPts val="750"/>
              </a:spcBef>
            </a:pPr>
            <a:r>
              <a:rPr lang="en-IN" sz="2000" spc="-10" dirty="0">
                <a:latin typeface="Times New Roman"/>
                <a:cs typeface="Times New Roman"/>
              </a:rPr>
              <a:t>P.SUPRAJA(25B11AI906)</a:t>
            </a:r>
          </a:p>
          <a:p>
            <a:pPr marL="3810" algn="ctr">
              <a:spcBef>
                <a:spcPts val="750"/>
              </a:spcBef>
            </a:pPr>
            <a:r>
              <a:rPr lang="en-IN" sz="2200" spc="-10" dirty="0">
                <a:solidFill>
                  <a:srgbClr val="7030A0"/>
                </a:solidFill>
                <a:latin typeface="Times New Roman"/>
                <a:cs typeface="Times New Roman"/>
              </a:rPr>
              <a:t>GUIDED BY</a:t>
            </a:r>
          </a:p>
          <a:p>
            <a:pPr marL="3810" algn="ctr">
              <a:spcBef>
                <a:spcPts val="750"/>
              </a:spcBef>
            </a:pPr>
            <a:r>
              <a:rPr lang="en-IN" sz="2400" spc="-10" dirty="0">
                <a:solidFill>
                  <a:srgbClr val="7030A0"/>
                </a:solidFill>
                <a:latin typeface="Times New Roman"/>
                <a:cs typeface="Times New Roman"/>
              </a:rPr>
              <a:t>B.S.V. GANESH SIR</a:t>
            </a:r>
          </a:p>
          <a:p>
            <a:pPr marL="3810" algn="ctr">
              <a:spcBef>
                <a:spcPts val="750"/>
              </a:spcBef>
            </a:pPr>
            <a:r>
              <a:rPr lang="en-IN" sz="2400" spc="-10" dirty="0">
                <a:solidFill>
                  <a:srgbClr val="7030A0"/>
                </a:solidFill>
                <a:latin typeface="Times New Roman"/>
                <a:cs typeface="Times New Roman"/>
              </a:rPr>
              <a:t>Assistant professor</a:t>
            </a: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3579185"/>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Requirements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Methodology</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42202" y="1508626"/>
            <a:ext cx="8953500" cy="3477875"/>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The Library Management Data Analysis System is a Python-based data</a:t>
            </a:r>
          </a:p>
          <a:p>
            <a:pPr algn="just"/>
            <a:r>
              <a:rPr lang="en-IN" sz="2400" dirty="0">
                <a:latin typeface="Times New Roman" panose="02020603050405020304" pitchFamily="18" charset="0"/>
                <a:cs typeface="Times New Roman" panose="02020603050405020304" pitchFamily="18" charset="0"/>
              </a:rPr>
              <a:t>analysis project used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library records and understand student book-borrowing </a:t>
            </a:r>
            <a:r>
              <a:rPr lang="en-IN" sz="2400" dirty="0" err="1">
                <a:latin typeface="Times New Roman" panose="02020603050405020304" pitchFamily="18" charset="0"/>
                <a:cs typeface="Times New Roman" panose="02020603050405020304" pitchFamily="18" charset="0"/>
              </a:rPr>
              <a:t>patterns.The</a:t>
            </a:r>
            <a:r>
              <a:rPr lang="en-IN" sz="2400" dirty="0">
                <a:latin typeface="Times New Roman" panose="02020603050405020304" pitchFamily="18" charset="0"/>
                <a:cs typeface="Times New Roman" panose="02020603050405020304" pitchFamily="18" charset="0"/>
              </a:rPr>
              <a:t> system uses Pandas to process library data and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book issue and return records, most borrowed books, student borrowing statistics and category-wise book </a:t>
            </a:r>
            <a:r>
              <a:rPr lang="en-IN" sz="2400" dirty="0" err="1">
                <a:latin typeface="Times New Roman" panose="02020603050405020304" pitchFamily="18" charset="0"/>
                <a:cs typeface="Times New Roman" panose="02020603050405020304" pitchFamily="18" charset="0"/>
              </a:rPr>
              <a:t>usage.The</a:t>
            </a:r>
            <a:r>
              <a:rPr lang="en-IN" sz="2400" dirty="0">
                <a:latin typeface="Times New Roman" panose="02020603050405020304" pitchFamily="18" charset="0"/>
                <a:cs typeface="Times New Roman" panose="02020603050405020304" pitchFamily="18" charset="0"/>
              </a:rPr>
              <a:t> results are represented using charts and graphs for easy understanding. As an enhancement, the system can also recommend books based on students' previous borrowing patterns.</a:t>
            </a:r>
          </a:p>
          <a:p>
            <a:pPr algn="just"/>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685800" y="1476466"/>
            <a:ext cx="8838452" cy="4493538"/>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Libraries maintain a large amount of information about books, students, book issues and returns.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 manage this information effectively, it is important to understand:</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Which books are borrowed most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Which students borrow more books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Which categories are most popular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How many books are issued and returned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Manual analysis of these records can be time-consuming and difficult, especially when the amount of data increases.</a:t>
            </a:r>
          </a:p>
          <a:p>
            <a:r>
              <a:rPr lang="en-IN" sz="2200" dirty="0">
                <a:latin typeface="Times New Roman" panose="02020603050405020304" pitchFamily="18" charset="0"/>
                <a:cs typeface="Times New Roman" panose="02020603050405020304" pitchFamily="18" charset="0"/>
              </a:rPr>
              <a:t>Using Python Data Analysis, the library records can be processed and visualized to identify useful patterns and make the information easier to understand.</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85800" y="1480344"/>
            <a:ext cx="8458200" cy="6155531"/>
          </a:xfrm>
          <a:prstGeom prst="rect">
            <a:avLst/>
          </a:prstGeom>
          <a:noFill/>
        </p:spPr>
        <p:txBody>
          <a:bodyPr wrap="square" rtlCol="0">
            <a:spAutoFit/>
          </a:bodyPr>
          <a:lstStyle/>
          <a:p>
            <a:pPr>
              <a:spcBef>
                <a:spcPts val="1200"/>
              </a:spcBef>
            </a:pPr>
            <a:r>
              <a:rPr lang="en-US" sz="2600" b="1" dirty="0">
                <a:latin typeface="Times New Roman" panose="02020603050405020304" pitchFamily="18" charset="0"/>
                <a:cs typeface="Times New Roman" panose="02020603050405020304" pitchFamily="18" charset="0"/>
              </a:rPr>
              <a:t>Existing System</a:t>
            </a:r>
          </a:p>
          <a:p>
            <a:pPr>
              <a:spcBef>
                <a:spcPts val="1200"/>
              </a:spcBef>
            </a:pPr>
            <a:endParaRPr lang="en-US" sz="26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Library records are usually maintained using:</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Excel Sheets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CSV Files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Manual Registers </a:t>
            </a:r>
          </a:p>
          <a:p>
            <a:pPr marL="342900" lvl="0" indent="-342900">
              <a:buFont typeface="Arial" panose="020B0604020202020204" pitchFamily="34" charset="0"/>
              <a:buChar char="•"/>
            </a:pPr>
            <a:endParaRPr lang="en-IN"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Limitations of Existing System:</a:t>
            </a:r>
          </a:p>
          <a:p>
            <a:endParaRPr lang="en-IN" sz="2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Time-consuming manual analysis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Difficult to find most borrowed books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Difficult to track student borrowing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Difficult to compare book categories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No automatic visualization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Difficult to identify borrowing patterns</a:t>
            </a:r>
          </a:p>
          <a:p>
            <a:pPr>
              <a:spcBef>
                <a:spcPts val="1200"/>
              </a:spcBef>
            </a:pPr>
            <a:endParaRPr lang="en-US" sz="2400" b="1"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6429C0E-D3D9-C6CC-7313-83F33EFBCF19}"/>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91DF476-1B07-C94C-2B95-DA4AB352F96B}"/>
              </a:ext>
            </a:extLst>
          </p:cNvPr>
          <p:cNvSpPr txBox="1"/>
          <p:nvPr/>
        </p:nvSpPr>
        <p:spPr>
          <a:xfrm>
            <a:off x="1828800" y="1371600"/>
            <a:ext cx="6530340" cy="4216539"/>
          </a:xfrm>
          <a:prstGeom prst="rect">
            <a:avLst/>
          </a:prstGeom>
          <a:noFill/>
        </p:spPr>
        <p:txBody>
          <a:bodyPr wrap="square" rtlCol="0">
            <a:spAutoFit/>
          </a:bodyPr>
          <a:lstStyle/>
          <a:p>
            <a:pPr algn="ctr"/>
            <a:r>
              <a:rPr lang="en-IN" sz="2700" b="1" u="sng" dirty="0"/>
              <a:t>Proposed System</a:t>
            </a:r>
          </a:p>
          <a:p>
            <a:endParaRPr lang="en-IN" sz="2600" b="1" u="sng" dirty="0"/>
          </a:p>
          <a:p>
            <a:r>
              <a:rPr lang="en-IN" sz="2200" dirty="0">
                <a:latin typeface="Times New Roman" panose="02020603050405020304" pitchFamily="18" charset="0"/>
                <a:cs typeface="Times New Roman" panose="02020603050405020304" pitchFamily="18" charset="0"/>
              </a:rPr>
              <a:t>The proposed system uses Python to:</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Load library records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Clean and process data </a:t>
            </a:r>
          </a:p>
          <a:p>
            <a:pPr marL="285750" lvl="0" indent="-285750">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book issues and returns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Find most borrowed books </a:t>
            </a:r>
          </a:p>
          <a:p>
            <a:pPr marL="285750" lvl="0" indent="-285750">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student borrowing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Perform category-wise analysis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Generate charts and graphs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Recommend books</a:t>
            </a:r>
          </a:p>
          <a:p>
            <a:endParaRPr lang="en-IN" dirty="0"/>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FB4F262F-F0F0-C20D-A840-1205F2DDB1B6}"/>
              </a:ext>
            </a:extLst>
          </p:cNvPr>
          <p:cNvSpPr txBox="1"/>
          <p:nvPr/>
        </p:nvSpPr>
        <p:spPr>
          <a:xfrm>
            <a:off x="990600" y="1371600"/>
            <a:ext cx="5334000" cy="3585597"/>
          </a:xfrm>
          <a:prstGeom prst="rect">
            <a:avLst/>
          </a:prstGeom>
          <a:noFill/>
        </p:spPr>
        <p:txBody>
          <a:bodyPr wrap="square">
            <a:spAutoFit/>
          </a:bodyPr>
          <a:lstStyle/>
          <a:p>
            <a:pPr algn="ctr">
              <a:buNone/>
            </a:pPr>
            <a:r>
              <a:rPr lang="en-IN" sz="2700" b="1" u="sng" dirty="0">
                <a:latin typeface="Times New Roman" panose="02020603050405020304" pitchFamily="18" charset="0"/>
                <a:cs typeface="Times New Roman" panose="02020603050405020304" pitchFamily="18" charset="0"/>
              </a:rPr>
              <a:t>Advantages</a:t>
            </a:r>
          </a:p>
          <a:p>
            <a:pPr>
              <a:buNone/>
            </a:pPr>
            <a:endParaRPr lang="en-US" sz="2400" b="1"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Easy to manage library data</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Saves time</a:t>
            </a:r>
          </a:p>
          <a:p>
            <a:pPr marL="342900" indent="-342900" algn="l">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Identifies most borrowed books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Tracks student borrowing</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Analyzes book categories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Provides clear graphs and charts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Helps in better decision-making</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Reduces manual work</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CA7EE8-74F6-AF36-B9E5-7578E123718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DFCC38E1-9856-A2E3-4EB5-E8E13767AF6F}"/>
              </a:ext>
            </a:extLst>
          </p:cNvPr>
          <p:cNvSpPr txBox="1"/>
          <p:nvPr/>
        </p:nvSpPr>
        <p:spPr>
          <a:xfrm>
            <a:off x="2514600" y="448236"/>
            <a:ext cx="6781800" cy="3480761"/>
          </a:xfrm>
          <a:prstGeom prst="rect">
            <a:avLst/>
          </a:prstGeom>
          <a:noFill/>
        </p:spPr>
        <p:txBody>
          <a:bodyPr wrap="square" rtlCol="0">
            <a:spAutoFit/>
          </a:bodyPr>
          <a:lstStyle/>
          <a:p>
            <a:pPr>
              <a:lnSpc>
                <a:spcPct val="150000"/>
              </a:lnSpc>
              <a:spcBef>
                <a:spcPts val="1200"/>
              </a:spcBef>
            </a:pPr>
            <a:r>
              <a:rPr lang="en-IN" sz="2700" b="1" u="sng" dirty="0">
                <a:latin typeface="Times New Roman" panose="02020603050405020304" pitchFamily="18" charset="0"/>
                <a:cs typeface="Times New Roman" panose="02020603050405020304" pitchFamily="18" charset="0"/>
              </a:rPr>
              <a:t>DATASET DESCRIPTION</a:t>
            </a: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a:p>
            <a:pPr>
              <a:lnSpc>
                <a:spcPct val="150000"/>
              </a:lnSpc>
              <a:spcBef>
                <a:spcPts val="1200"/>
              </a:spcBef>
            </a:pPr>
            <a:endParaRPr lang="en-IN" sz="2400" b="1" u="sng"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97977331-EA1C-CA44-869F-6C400FF95B93}"/>
              </a:ext>
            </a:extLst>
          </p:cNvPr>
          <p:cNvPicPr/>
          <p:nvPr/>
        </p:nvPicPr>
        <p:blipFill>
          <a:blip r:embed="rId3" cstate="print"/>
          <a:stretch>
            <a:fillRect/>
          </a:stretch>
        </p:blipFill>
        <p:spPr>
          <a:xfrm>
            <a:off x="290750" y="204311"/>
            <a:ext cx="1163002" cy="424338"/>
          </a:xfrm>
          <a:prstGeom prst="rect">
            <a:avLst/>
          </a:prstGeom>
        </p:spPr>
      </p:pic>
      <p:graphicFrame>
        <p:nvGraphicFramePr>
          <p:cNvPr id="3" name="Table 2">
            <a:extLst>
              <a:ext uri="{FF2B5EF4-FFF2-40B4-BE49-F238E27FC236}">
                <a16:creationId xmlns:a16="http://schemas.microsoft.com/office/drawing/2014/main" id="{BE255E6B-C05E-9AC0-3DA9-7D44FB1FE8E4}"/>
              </a:ext>
            </a:extLst>
          </p:cNvPr>
          <p:cNvGraphicFramePr>
            <a:graphicFrameLocks noGrp="1"/>
          </p:cNvGraphicFramePr>
          <p:nvPr>
            <p:extLst>
              <p:ext uri="{D42A27DB-BD31-4B8C-83A1-F6EECF244321}">
                <p14:modId xmlns:p14="http://schemas.microsoft.com/office/powerpoint/2010/main" val="4254300280"/>
              </p:ext>
            </p:extLst>
          </p:nvPr>
        </p:nvGraphicFramePr>
        <p:xfrm>
          <a:off x="533400" y="1266638"/>
          <a:ext cx="8991600" cy="6174913"/>
        </p:xfrm>
        <a:graphic>
          <a:graphicData uri="http://schemas.openxmlformats.org/drawingml/2006/table">
            <a:tbl>
              <a:tblPr>
                <a:tableStyleId>{C4B1156A-380E-4F78-BDF5-A606A8083BF9}</a:tableStyleId>
              </a:tblPr>
              <a:tblGrid>
                <a:gridCol w="4166977">
                  <a:extLst>
                    <a:ext uri="{9D8B030D-6E8A-4147-A177-3AD203B41FA5}">
                      <a16:colId xmlns:a16="http://schemas.microsoft.com/office/drawing/2014/main" val="2075634255"/>
                    </a:ext>
                  </a:extLst>
                </a:gridCol>
                <a:gridCol w="4824623">
                  <a:extLst>
                    <a:ext uri="{9D8B030D-6E8A-4147-A177-3AD203B41FA5}">
                      <a16:colId xmlns:a16="http://schemas.microsoft.com/office/drawing/2014/main" val="1324263394"/>
                    </a:ext>
                  </a:extLst>
                </a:gridCol>
              </a:tblGrid>
              <a:tr h="615669">
                <a:tc>
                  <a:txBody>
                    <a:bodyPr/>
                    <a:lstStyle/>
                    <a:p>
                      <a:pPr>
                        <a:buNone/>
                      </a:pPr>
                      <a:r>
                        <a:rPr lang="en-IN" sz="2600" b="1" dirty="0"/>
                        <a:t>Attribute</a:t>
                      </a:r>
                      <a:endParaRPr lang="en-IN" sz="260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600" b="1" dirty="0"/>
                        <a:t>Description</a:t>
                      </a:r>
                      <a:endParaRPr lang="en-IN" sz="26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3439997483"/>
                  </a:ext>
                </a:extLst>
              </a:tr>
              <a:tr h="533400">
                <a:tc>
                  <a:txBody>
                    <a:bodyPr/>
                    <a:lstStyle/>
                    <a:p>
                      <a:pPr>
                        <a:buNone/>
                      </a:pPr>
                      <a:r>
                        <a:rPr lang="en-IN" sz="2200" b="0" dirty="0" err="1"/>
                        <a:t>Transaction_ID</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Unique ID for each library transaction</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1150055089"/>
                  </a:ext>
                </a:extLst>
              </a:tr>
              <a:tr h="0">
                <a:tc>
                  <a:txBody>
                    <a:bodyPr/>
                    <a:lstStyle/>
                    <a:p>
                      <a:pPr>
                        <a:buNone/>
                      </a:pPr>
                      <a:r>
                        <a:rPr lang="en-IN" sz="2200" b="0" dirty="0" err="1"/>
                        <a:t>Student_ID</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Unique identification number of the student</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1675624080"/>
                  </a:ext>
                </a:extLst>
              </a:tr>
              <a:tr h="473774">
                <a:tc>
                  <a:txBody>
                    <a:bodyPr/>
                    <a:lstStyle/>
                    <a:p>
                      <a:pPr>
                        <a:buNone/>
                      </a:pPr>
                      <a:r>
                        <a:rPr lang="en-IN" sz="2200" b="0" dirty="0" err="1"/>
                        <a:t>Student_Name</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Name of the student</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2557912010"/>
                  </a:ext>
                </a:extLst>
              </a:tr>
              <a:tr h="0">
                <a:tc>
                  <a:txBody>
                    <a:bodyPr/>
                    <a:lstStyle/>
                    <a:p>
                      <a:pPr>
                        <a:buNone/>
                      </a:pPr>
                      <a:r>
                        <a:rPr lang="en-IN" sz="2200" b="0" dirty="0" err="1"/>
                        <a:t>Book_ID</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Unique identification number of the book</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4063164565"/>
                  </a:ext>
                </a:extLst>
              </a:tr>
              <a:tr h="453844">
                <a:tc>
                  <a:txBody>
                    <a:bodyPr/>
                    <a:lstStyle/>
                    <a:p>
                      <a:pPr>
                        <a:buNone/>
                      </a:pPr>
                      <a:r>
                        <a:rPr lang="en-IN" sz="2200" b="0" dirty="0" err="1"/>
                        <a:t>Book_Title</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Title/name of the book</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97362690"/>
                  </a:ext>
                </a:extLst>
              </a:tr>
              <a:tr h="453844">
                <a:tc>
                  <a:txBody>
                    <a:bodyPr/>
                    <a:lstStyle/>
                    <a:p>
                      <a:pPr>
                        <a:buNone/>
                      </a:pPr>
                      <a:r>
                        <a:rPr lang="en-IN" sz="2200" b="0" dirty="0"/>
                        <a:t>Author</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Name of the book author</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3983535142"/>
                  </a:ext>
                </a:extLst>
              </a:tr>
              <a:tr h="556686">
                <a:tc>
                  <a:txBody>
                    <a:bodyPr/>
                    <a:lstStyle/>
                    <a:p>
                      <a:pPr>
                        <a:buNone/>
                      </a:pPr>
                      <a:r>
                        <a:rPr lang="en-IN" sz="2200" b="0" dirty="0"/>
                        <a:t>Category</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Category to which the book belongs</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1947497132"/>
                  </a:ext>
                </a:extLst>
              </a:tr>
              <a:tr h="533400">
                <a:tc>
                  <a:txBody>
                    <a:bodyPr/>
                    <a:lstStyle/>
                    <a:p>
                      <a:pPr>
                        <a:buNone/>
                      </a:pPr>
                      <a:r>
                        <a:rPr lang="en-IN" sz="2200" b="0" dirty="0" err="1"/>
                        <a:t>Issue_Date</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Date on which the book was issued</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2468905927"/>
                  </a:ext>
                </a:extLst>
              </a:tr>
              <a:tr h="609600">
                <a:tc>
                  <a:txBody>
                    <a:bodyPr/>
                    <a:lstStyle/>
                    <a:p>
                      <a:pPr>
                        <a:buNone/>
                      </a:pPr>
                      <a:r>
                        <a:rPr lang="en-IN" sz="2200" b="0" dirty="0" err="1"/>
                        <a:t>Return_Date</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Date on which the book was returned</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620549584"/>
                  </a:ext>
                </a:extLst>
              </a:tr>
              <a:tr h="453844">
                <a:tc>
                  <a:txBody>
                    <a:bodyPr/>
                    <a:lstStyle/>
                    <a:p>
                      <a:pPr>
                        <a:buNone/>
                      </a:pPr>
                      <a:r>
                        <a:rPr lang="en-IN" sz="2200" b="0" dirty="0"/>
                        <a:t>Status</a:t>
                      </a:r>
                      <a:endParaRPr lang="en-IN" sz="2200" b="0" dirty="0">
                        <a:latin typeface="Times New Roman" panose="02020603050405020304" pitchFamily="18" charset="0"/>
                        <a:cs typeface="Times New Roman" panose="02020603050405020304" pitchFamily="18" charset="0"/>
                      </a:endParaRPr>
                    </a:p>
                  </a:txBody>
                  <a:tcPr marL="74865" marR="74865" marT="37433" marB="37433" anchor="ctr"/>
                </a:tc>
                <a:tc>
                  <a:txBody>
                    <a:bodyPr/>
                    <a:lstStyle/>
                    <a:p>
                      <a:pPr>
                        <a:buNone/>
                      </a:pPr>
                      <a:r>
                        <a:rPr lang="en-IN" sz="2200" dirty="0"/>
                        <a:t>Current status of the book</a:t>
                      </a:r>
                      <a:endParaRPr lang="en-IN" sz="2200" dirty="0">
                        <a:latin typeface="Times New Roman" panose="02020603050405020304" pitchFamily="18" charset="0"/>
                        <a:cs typeface="Times New Roman" panose="02020603050405020304" pitchFamily="18" charset="0"/>
                      </a:endParaRPr>
                    </a:p>
                  </a:txBody>
                  <a:tcPr marL="74865" marR="74865" marT="37433" marB="37433" anchor="ctr"/>
                </a:tc>
                <a:extLst>
                  <a:ext uri="{0D108BD9-81ED-4DB2-BD59-A6C34878D82A}">
                    <a16:rowId xmlns:a16="http://schemas.microsoft.com/office/drawing/2014/main" val="556890093"/>
                  </a:ext>
                </a:extLst>
              </a:tr>
            </a:tbl>
          </a:graphicData>
        </a:graphic>
      </p:graphicFrame>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038600" y="332823"/>
            <a:ext cx="5029200" cy="392415"/>
          </a:xfrm>
          <a:prstGeom prst="rect">
            <a:avLst/>
          </a:prstGeom>
          <a:noFill/>
        </p:spPr>
        <p:txBody>
          <a:bodyPr wrap="square">
            <a:spAutoFit/>
          </a:bodyPr>
          <a:lstStyle/>
          <a:p>
            <a:r>
              <a:rPr lang="en-IN" sz="1950" b="1">
                <a:solidFill>
                  <a:schemeClr val="bg1"/>
                </a:solidFill>
                <a:latin typeface="Times New Roman" panose="02020603050405020304" pitchFamily="18" charset="0"/>
                <a:cs typeface="Times New Roman" panose="02020603050405020304" pitchFamily="18" charset="0"/>
              </a:rPr>
              <a:t>REQUIREMENTS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85800" y="934735"/>
            <a:ext cx="8305800" cy="6310189"/>
          </a:xfrm>
          <a:prstGeom prst="rect">
            <a:avLst/>
          </a:prstGeom>
          <a:noFill/>
        </p:spPr>
        <p:txBody>
          <a:bodyPr wrap="square" rtlCol="0">
            <a:spAutoFit/>
          </a:bodyPr>
          <a:lstStyle/>
          <a:p>
            <a:pPr>
              <a:lnSpc>
                <a:spcPct val="150000"/>
              </a:lnSpc>
            </a:pPr>
            <a:r>
              <a:rPr lang="en-IN" sz="26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endParaRPr lang="en-IN" sz="2200" dirty="0">
              <a:latin typeface="Times New Roman" panose="02020603050405020304" pitchFamily="18" charset="0"/>
              <a:cs typeface="Times New Roman" panose="02020603050405020304" pitchFamily="18" charset="0"/>
            </a:endParaRPr>
          </a:p>
          <a:p>
            <a:pPr>
              <a:lnSpc>
                <a:spcPct val="150000"/>
              </a:lnSpc>
            </a:pPr>
            <a:r>
              <a:rPr lang="en-IN" sz="26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Google Collab/ Jupyter Notebook</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Libraries: Pandas, </a:t>
            </a:r>
            <a:r>
              <a:rPr lang="en-IN" sz="2200" dirty="0" err="1">
                <a:latin typeface="Times New Roman" panose="02020603050405020304" pitchFamily="18" charset="0"/>
                <a:cs typeface="Times New Roman" panose="02020603050405020304" pitchFamily="18" charset="0"/>
              </a:rPr>
              <a:t>Numpy</a:t>
            </a:r>
            <a:r>
              <a:rPr lang="en-IN" sz="2200" dirty="0">
                <a:latin typeface="Times New Roman" panose="02020603050405020304" pitchFamily="18" charset="0"/>
                <a:cs typeface="Times New Roman" panose="02020603050405020304" pitchFamily="18" charset="0"/>
              </a:rPr>
              <a:t>, Matplotlib, Seaborn</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685800" y="1382293"/>
            <a:ext cx="7924801" cy="661207"/>
          </a:xfrm>
          <a:prstGeom prst="rect">
            <a:avLst/>
          </a:prstGeom>
          <a:noFill/>
        </p:spPr>
        <p:txBody>
          <a:bodyPr wrap="square" rtlCol="0">
            <a:spAutoFit/>
          </a:bodyPr>
          <a:lstStyle/>
          <a:p>
            <a:pPr algn="just">
              <a:lnSpc>
                <a:spcPct val="150000"/>
              </a:lnSpc>
            </a:pPr>
            <a:r>
              <a:rPr lang="en-IN" sz="2700" b="1" dirty="0">
                <a:latin typeface="Times New Roman" panose="02020603050405020304" pitchFamily="18" charset="0"/>
                <a:cs typeface="Times New Roman" panose="02020603050405020304" pitchFamily="18" charset="0"/>
              </a:rPr>
              <a:t>MODULES:</a:t>
            </a: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211432"/>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872251" y="1942022"/>
            <a:ext cx="8610599" cy="5970865"/>
          </a:xfrm>
          <a:prstGeom prst="rect">
            <a:avLst/>
          </a:prstGeom>
          <a:noFill/>
        </p:spPr>
        <p:txBody>
          <a:bodyPr wrap="square">
            <a:spAutoFit/>
          </a:bodyPr>
          <a:lstStyle/>
          <a:p>
            <a:endParaRPr lang="en-IN" sz="2000" dirty="0"/>
          </a:p>
          <a:p>
            <a:r>
              <a:rPr lang="en-IN" sz="2600" b="1" dirty="0">
                <a:latin typeface="Times New Roman" panose="02020603050405020304" pitchFamily="18" charset="0"/>
                <a:cs typeface="Times New Roman" panose="02020603050405020304" pitchFamily="18" charset="0"/>
              </a:rPr>
              <a:t>Module 1 — Dataset Loading</a:t>
            </a:r>
          </a:p>
          <a:p>
            <a:endParaRPr lang="en-IN" sz="22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Import required libraries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Read the library dataset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 the records</a:t>
            </a:r>
          </a:p>
          <a:p>
            <a:pPr lvl="0"/>
            <a:endParaRPr lang="en-IN" sz="2200"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Module 2 — Data Exploration</a:t>
            </a:r>
          </a:p>
          <a:p>
            <a:endParaRPr lang="en-IN" sz="22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number of rows and columns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column names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data types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missing values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duplicate records </a:t>
            </a:r>
          </a:p>
          <a:p>
            <a:br>
              <a:rPr lang="en-IN" sz="2600" dirty="0"/>
            </a:br>
            <a:endParaRPr lang="en-IN" sz="2600" dirty="0"/>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8057B3F-5DAB-DD41-AECE-F331B855040E}"/>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87F558-D85F-5AC0-F454-1F63CE0A07E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A168F22-39BB-5B7D-3CF6-D85FE785C62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7D54020-DB2F-8565-330C-84D2218CC66C}"/>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E7A54A0-4068-FC5A-C8B6-7CD6DED089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5F015672-148D-A104-60CF-C6A88B194918}"/>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6C365DC-19B7-1764-968A-F9C87D5E495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6D4B64F4-A7BB-5C66-D262-C3B30131FC70}"/>
              </a:ext>
            </a:extLst>
          </p:cNvPr>
          <p:cNvSpPr txBox="1"/>
          <p:nvPr/>
        </p:nvSpPr>
        <p:spPr>
          <a:xfrm>
            <a:off x="723900" y="1449777"/>
            <a:ext cx="8610599" cy="5478423"/>
          </a:xfrm>
          <a:prstGeom prst="rect">
            <a:avLst/>
          </a:prstGeom>
          <a:noFill/>
        </p:spPr>
        <p:txBody>
          <a:bodyPr wrap="square" lIns="91440" tIns="45720" rIns="91440" bIns="45720" anchor="t">
            <a:spAutoFit/>
          </a:bodyPr>
          <a:lstStyle/>
          <a:p>
            <a:r>
              <a:rPr lang="en-IN" sz="2600" b="1" dirty="0">
                <a:latin typeface="Times New Roman" panose="02020603050405020304" pitchFamily="18" charset="0"/>
                <a:cs typeface="Times New Roman" panose="02020603050405020304" pitchFamily="18" charset="0"/>
              </a:rPr>
              <a:t>Module 3 — Data Cleaning</a:t>
            </a:r>
          </a:p>
          <a:p>
            <a:endParaRPr lang="en-IN" sz="22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Handle missing values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Remove duplicate records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Correct invalid data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Convert dates into proper format </a:t>
            </a:r>
          </a:p>
          <a:p>
            <a:pPr lvl="0"/>
            <a:endParaRPr lang="en-IN" sz="2200"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Module 4 — Data Analysis</a:t>
            </a:r>
          </a:p>
          <a:p>
            <a:endParaRPr lang="en-IN" sz="22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book issue and return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Find most borrowed books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Calculate student borrowing statistics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 category-wise analysis</a:t>
            </a:r>
          </a:p>
          <a:p>
            <a:br>
              <a:rPr lang="en-IN" sz="2000" dirty="0"/>
            </a:br>
            <a:endParaRPr lang="en-IN" sz="2000" dirty="0"/>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EE08E-523C-32FC-E082-46E594450268}"/>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6859D2B-F297-995F-F0D7-921751160EAC}"/>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99CE175C-CF0D-7FD5-13C8-CC5DAC2BDF1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03D936-1487-7ACE-918F-D2132B02B4A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2D8FEC2-7542-B59A-4A53-80C4D50D8E60}"/>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7C31006-8A72-2D91-5EA8-39E9EE49F77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CEE1A88-50DC-901E-7E6F-D4AD3C6124F9}"/>
              </a:ext>
            </a:extLst>
          </p:cNvPr>
          <p:cNvSpPr txBox="1">
            <a:spLocks noGrp="1"/>
          </p:cNvSpPr>
          <p:nvPr>
            <p:ph type="title"/>
          </p:nvPr>
        </p:nvSpPr>
        <p:spPr>
          <a:xfrm>
            <a:off x="3657600" y="437973"/>
            <a:ext cx="5476094"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 DATA VISUALIZATIONS </a:t>
            </a:r>
          </a:p>
        </p:txBody>
      </p:sp>
      <p:pic>
        <p:nvPicPr>
          <p:cNvPr id="11" name="object 3">
            <a:extLst>
              <a:ext uri="{FF2B5EF4-FFF2-40B4-BE49-F238E27FC236}">
                <a16:creationId xmlns:a16="http://schemas.microsoft.com/office/drawing/2014/main" id="{7D93B14E-70D9-0CF4-5873-ED37CA4AA182}"/>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F2407819-681D-FA57-57D4-DF4CFD99FFD2}"/>
              </a:ext>
            </a:extLst>
          </p:cNvPr>
          <p:cNvSpPr txBox="1"/>
          <p:nvPr/>
        </p:nvSpPr>
        <p:spPr>
          <a:xfrm>
            <a:off x="723900" y="1449777"/>
            <a:ext cx="8610599" cy="707886"/>
          </a:xfrm>
          <a:prstGeom prst="rect">
            <a:avLst/>
          </a:prstGeom>
          <a:noFill/>
        </p:spPr>
        <p:txBody>
          <a:bodyPr wrap="square" lIns="91440" tIns="45720" rIns="91440" bIns="45720" anchor="t">
            <a:spAutoFit/>
          </a:bodyPr>
          <a:lstStyle/>
          <a:p>
            <a:br>
              <a:rPr lang="en-IN" sz="2000" dirty="0"/>
            </a:br>
            <a:endParaRPr lang="en-IN" sz="2000" dirty="0"/>
          </a:p>
        </p:txBody>
      </p:sp>
      <p:sp>
        <p:nvSpPr>
          <p:cNvPr id="3" name="TextBox 2">
            <a:extLst>
              <a:ext uri="{FF2B5EF4-FFF2-40B4-BE49-F238E27FC236}">
                <a16:creationId xmlns:a16="http://schemas.microsoft.com/office/drawing/2014/main" id="{C3C045A3-29A8-581F-FA5D-11888DD83A09}"/>
              </a:ext>
            </a:extLst>
          </p:cNvPr>
          <p:cNvSpPr txBox="1"/>
          <p:nvPr/>
        </p:nvSpPr>
        <p:spPr>
          <a:xfrm>
            <a:off x="533400" y="1012361"/>
            <a:ext cx="8686800" cy="6063198"/>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Analysis Performed</a:t>
            </a:r>
          </a:p>
          <a:p>
            <a:endParaRPr lang="en-IN" b="1"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1. Book Issue &amp; Return Analysis</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Total books issued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Total books returned </a:t>
            </a:r>
          </a:p>
          <a:p>
            <a:pPr marL="342900" lvl="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Books not returned </a:t>
            </a:r>
          </a:p>
          <a:p>
            <a:r>
              <a:rPr lang="en-IN" sz="2200" dirty="0">
                <a:latin typeface="Times New Roman" panose="02020603050405020304" pitchFamily="18" charset="0"/>
                <a:cs typeface="Times New Roman" panose="02020603050405020304" pitchFamily="18" charset="0"/>
              </a:rPr>
              <a:t>2. Most Borrowed Books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Find the books that are borrowed most frequently.</a:t>
            </a:r>
          </a:p>
          <a:p>
            <a:r>
              <a:rPr lang="en-IN" sz="2200" dirty="0">
                <a:latin typeface="Times New Roman" panose="02020603050405020304" pitchFamily="18" charset="0"/>
                <a:cs typeface="Times New Roman" panose="02020603050405020304" pitchFamily="18" charset="0"/>
              </a:rPr>
              <a:t>3. Student Borrowing Statistics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Find students who borrow more books and understand their borrowing patterns.</a:t>
            </a:r>
          </a:p>
          <a:p>
            <a:r>
              <a:rPr lang="en-IN" sz="2200" dirty="0">
                <a:latin typeface="Times New Roman" panose="02020603050405020304" pitchFamily="18" charset="0"/>
                <a:cs typeface="Times New Roman" panose="02020603050405020304" pitchFamily="18" charset="0"/>
              </a:rPr>
              <a:t>4. Category-wise Analysis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Find which book category is most popular among students.</a:t>
            </a:r>
          </a:p>
          <a:p>
            <a:endParaRPr lang="en-IN" sz="2200" b="1"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Visualizations:</a:t>
            </a:r>
          </a:p>
          <a:p>
            <a:pPr marL="285750" indent="-285750">
              <a:buFont typeface="Arial" panose="020B0604020202020204" pitchFamily="34" charset="0"/>
              <a:buChar char="•"/>
            </a:pPr>
            <a:r>
              <a:rPr lang="en-US" dirty="0"/>
              <a:t>Bar Graph – Shows the most borrowed/popular books.</a:t>
            </a:r>
          </a:p>
          <a:p>
            <a:pPr marL="285750" indent="-285750">
              <a:buFont typeface="Arial" panose="020B0604020202020204" pitchFamily="34" charset="0"/>
              <a:buChar char="•"/>
            </a:pPr>
            <a:r>
              <a:rPr lang="en-US" dirty="0"/>
              <a:t>Pie Chart – Shows the distribution of books by category.</a:t>
            </a:r>
          </a:p>
          <a:p>
            <a:pPr marL="285750" indent="-285750">
              <a:buFont typeface="Arial" panose="020B0604020202020204" pitchFamily="34" charset="0"/>
              <a:buChar char="•"/>
            </a:pPr>
            <a:r>
              <a:rPr lang="en-US" dirty="0"/>
              <a:t>Line Graph – Shows the monthly borrowing trend.</a:t>
            </a:r>
            <a:endParaRPr lang="en-IN" dirty="0"/>
          </a:p>
        </p:txBody>
      </p:sp>
    </p:spTree>
    <p:extLst>
      <p:ext uri="{BB962C8B-B14F-4D97-AF65-F5344CB8AC3E}">
        <p14:creationId xmlns:p14="http://schemas.microsoft.com/office/powerpoint/2010/main" val="3260424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1C4AF-AE69-953D-D89E-E283FE13BA75}"/>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828E9E26-FD09-AF0D-9132-F91527A70BCA}"/>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E7DEE9-B19E-921A-FABE-A16758C8213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F0CBB3F5-8262-1EB5-82A7-58CA48B862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DF0355A-FA16-19AB-0D62-614B8FA139D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456CE24-CB9E-7408-074D-936FEA36B2F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CB288DB-637F-1409-9BBE-CE35B009CBCB}"/>
              </a:ext>
            </a:extLst>
          </p:cNvPr>
          <p:cNvSpPr txBox="1">
            <a:spLocks noGrp="1"/>
          </p:cNvSpPr>
          <p:nvPr>
            <p:ph type="title"/>
          </p:nvPr>
        </p:nvSpPr>
        <p:spPr>
          <a:xfrm>
            <a:off x="3252821" y="438265"/>
            <a:ext cx="4585268"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a:t>
            </a:r>
          </a:p>
        </p:txBody>
      </p:sp>
      <p:pic>
        <p:nvPicPr>
          <p:cNvPr id="11" name="object 3">
            <a:extLst>
              <a:ext uri="{FF2B5EF4-FFF2-40B4-BE49-F238E27FC236}">
                <a16:creationId xmlns:a16="http://schemas.microsoft.com/office/drawing/2014/main" id="{29C6DF00-DEA8-0B34-BEE1-B4C2B50B8D6F}"/>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F3771C69-3933-A99B-C3CD-1985C4ECA9AE}"/>
              </a:ext>
            </a:extLst>
          </p:cNvPr>
          <p:cNvSpPr txBox="1"/>
          <p:nvPr/>
        </p:nvSpPr>
        <p:spPr>
          <a:xfrm>
            <a:off x="723900" y="1449777"/>
            <a:ext cx="8610599" cy="707886"/>
          </a:xfrm>
          <a:prstGeom prst="rect">
            <a:avLst/>
          </a:prstGeom>
          <a:noFill/>
        </p:spPr>
        <p:txBody>
          <a:bodyPr wrap="square" lIns="91440" tIns="45720" rIns="91440" bIns="45720" anchor="t">
            <a:spAutoFit/>
          </a:bodyPr>
          <a:lstStyle/>
          <a:p>
            <a:br>
              <a:rPr lang="en-IN" sz="2000" dirty="0"/>
            </a:br>
            <a:endParaRPr lang="en-IN" sz="2000" dirty="0"/>
          </a:p>
        </p:txBody>
      </p:sp>
      <p:sp>
        <p:nvSpPr>
          <p:cNvPr id="4" name="TextBox 3">
            <a:extLst>
              <a:ext uri="{FF2B5EF4-FFF2-40B4-BE49-F238E27FC236}">
                <a16:creationId xmlns:a16="http://schemas.microsoft.com/office/drawing/2014/main" id="{BCBCAB74-548D-D941-08BE-4EAAFF655AE1}"/>
              </a:ext>
            </a:extLst>
          </p:cNvPr>
          <p:cNvSpPr txBox="1"/>
          <p:nvPr/>
        </p:nvSpPr>
        <p:spPr>
          <a:xfrm>
            <a:off x="647700" y="1143000"/>
            <a:ext cx="8763000" cy="6894195"/>
          </a:xfrm>
          <a:prstGeom prst="rect">
            <a:avLst/>
          </a:prstGeom>
          <a:noFill/>
        </p:spPr>
        <p:txBody>
          <a:bodyPr wrap="square" rtlCol="0">
            <a:spAutoFit/>
          </a:bodyPr>
          <a:lstStyle/>
          <a:p>
            <a:r>
              <a:rPr lang="en-IN" sz="2600" b="1" u="sng" dirty="0">
                <a:latin typeface="Times New Roman" panose="02020603050405020304" pitchFamily="18" charset="0"/>
                <a:cs typeface="Times New Roman" panose="02020603050405020304" pitchFamily="18" charset="0"/>
              </a:rPr>
              <a:t>ENHANCEMENT </a:t>
            </a:r>
            <a:r>
              <a:rPr lang="en-IN" sz="2600" b="1" dirty="0">
                <a:latin typeface="Times New Roman" panose="02020603050405020304" pitchFamily="18" charset="0"/>
                <a:cs typeface="Times New Roman" panose="02020603050405020304" pitchFamily="18" charset="0"/>
              </a:rPr>
              <a:t>— BOOK RECOMMENDATION</a:t>
            </a:r>
          </a:p>
          <a:p>
            <a:endParaRPr lang="en-IN" sz="2200" b="1" u="sng"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system can recommend books based on a student's previous borrowing behaviour.</a:t>
            </a:r>
          </a:p>
          <a:p>
            <a:endParaRPr lang="en-IN" sz="22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Recommendation Process :</a:t>
            </a:r>
          </a:p>
          <a:p>
            <a:endParaRPr lang="en-IN" sz="2200" b="1"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Previous Borrowed Books</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Identify Preferred Category</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Find Popular Books</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Recommend Suitable Books</a:t>
            </a:r>
          </a:p>
          <a:p>
            <a:endParaRPr lang="en-IN" sz="2200"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Example:</a:t>
            </a:r>
          </a:p>
          <a:p>
            <a:r>
              <a:rPr lang="en-IN" sz="2200" dirty="0">
                <a:latin typeface="Times New Roman" panose="02020603050405020304" pitchFamily="18" charset="0"/>
                <a:cs typeface="Times New Roman" panose="02020603050405020304" pitchFamily="18" charset="0"/>
              </a:rPr>
              <a:t>If a student frequently borrows Python and Machine Learning books, the system can recommend other popular books from Programming, AI or Data Science categories.</a:t>
            </a:r>
          </a:p>
          <a:p>
            <a:endParaRPr lang="en-IN" dirty="0"/>
          </a:p>
        </p:txBody>
      </p:sp>
    </p:spTree>
    <p:extLst>
      <p:ext uri="{BB962C8B-B14F-4D97-AF65-F5344CB8AC3E}">
        <p14:creationId xmlns:p14="http://schemas.microsoft.com/office/powerpoint/2010/main" val="1630870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6072-48CF-7A07-3283-0CB79F29AB1D}"/>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1D05E8A7-0BAB-CD52-0FC4-DBD8F083248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2B30C952-F60A-FB38-53A3-CC89BA08827C}"/>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866CFA0-4F50-28F0-EFC2-86D038EB211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F09A4D8-A400-E0F8-0CA6-063B8B882E67}"/>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8E97D79-7FA8-D140-E726-79CFA9A5B81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0F701E1-161B-537E-CE8F-F2E5197F401F}"/>
              </a:ext>
            </a:extLst>
          </p:cNvPr>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EXPECTED OUTPUTS</a:t>
            </a:r>
          </a:p>
        </p:txBody>
      </p:sp>
      <p:pic>
        <p:nvPicPr>
          <p:cNvPr id="13" name="object 3">
            <a:extLst>
              <a:ext uri="{FF2B5EF4-FFF2-40B4-BE49-F238E27FC236}">
                <a16:creationId xmlns:a16="http://schemas.microsoft.com/office/drawing/2014/main" id="{F12DBFE6-BE52-C24E-9E8E-C14765A305F3}"/>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6E3ECD57-9B39-C7CE-D613-013ECF44CEE6}"/>
              </a:ext>
            </a:extLst>
          </p:cNvPr>
          <p:cNvSpPr txBox="1"/>
          <p:nvPr/>
        </p:nvSpPr>
        <p:spPr>
          <a:xfrm>
            <a:off x="1131147" y="1293706"/>
            <a:ext cx="8241453" cy="3785652"/>
          </a:xfrm>
          <a:prstGeom prst="rect">
            <a:avLst/>
          </a:prstGeom>
          <a:noFill/>
        </p:spPr>
        <p:txBody>
          <a:bodyPr wrap="square" rtlCol="0">
            <a:spAutoFit/>
          </a:bodyPr>
          <a:lstStyle/>
          <a:p>
            <a:r>
              <a:rPr lang="en-IN" sz="2600" b="1" u="sng" dirty="0">
                <a:latin typeface="Times New Roman" panose="02020603050405020304" pitchFamily="18" charset="0"/>
                <a:cs typeface="Times New Roman" panose="02020603050405020304" pitchFamily="18" charset="0"/>
              </a:rPr>
              <a:t>The system displays:</a:t>
            </a:r>
          </a:p>
          <a:p>
            <a:endParaRPr lang="en-IN" sz="20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Dataset Information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Cleaned Library Records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Book Issue and Return Statistics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Most Borrowed Books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Student Borrowing Statistics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Category-wise Book Analysis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Charts and Graphs </a:t>
            </a:r>
          </a:p>
          <a:p>
            <a:pPr marL="285750" lvl="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Book Recommendation Results</a:t>
            </a:r>
          </a:p>
          <a:p>
            <a:endParaRPr lang="en-IN" dirty="0"/>
          </a:p>
        </p:txBody>
      </p:sp>
    </p:spTree>
    <p:extLst>
      <p:ext uri="{BB962C8B-B14F-4D97-AF65-F5344CB8AC3E}">
        <p14:creationId xmlns:p14="http://schemas.microsoft.com/office/powerpoint/2010/main" val="3942059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AC8207EB-AF8E-F6A0-D3A1-FC07D957E223}"/>
              </a:ext>
            </a:extLst>
          </p:cNvPr>
          <p:cNvSpPr txBox="1"/>
          <p:nvPr/>
        </p:nvSpPr>
        <p:spPr>
          <a:xfrm>
            <a:off x="762000" y="1647964"/>
            <a:ext cx="8698653" cy="3077766"/>
          </a:xfrm>
          <a:prstGeom prst="rect">
            <a:avLst/>
          </a:prstGeom>
          <a:noFill/>
        </p:spPr>
        <p:txBody>
          <a:bodyPr wrap="square" rtlCol="0">
            <a:spAutoFit/>
          </a:bodyPr>
          <a:lstStyle/>
          <a:p>
            <a:pPr algn="just"/>
            <a:r>
              <a:rPr lang="en-US" sz="2200" dirty="0"/>
              <a:t>The Library Management Data Analysis System successfully analyzes library records using Python and Pandas. The system performs book issue and return analysis, identifies the most borrowed books, analyzes student borrowing patterns, and provides category-wise analysis. Bar charts, pie charts, and line charts are used to visualize the results clearly. This system helps understand library usage patterns and supports better library management and decision-making.</a:t>
            </a:r>
          </a:p>
          <a:p>
            <a:endParaRPr lang="en-IN" dirty="0"/>
          </a:p>
        </p:txBody>
      </p:sp>
    </p:spTree>
    <p:extLst>
      <p:ext uri="{BB962C8B-B14F-4D97-AF65-F5344CB8AC3E}">
        <p14:creationId xmlns:p14="http://schemas.microsoft.com/office/powerpoint/2010/main" val="269419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2764</TotalTime>
  <Words>880</Words>
  <Application>Microsoft Office PowerPoint</Application>
  <PresentationFormat>Custom</PresentationFormat>
  <Paragraphs>191</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Palatino Linotype</vt:lpstr>
      <vt:lpstr>Times New Roman</vt:lpstr>
      <vt:lpstr>Office Theme</vt:lpstr>
      <vt:lpstr>Data Analysis Essentials Cornerstone Project First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METHODOLOGY</vt:lpstr>
      <vt:lpstr>METHODOLOGY</vt:lpstr>
      <vt:lpstr> DATA VISUALIZATIONS </vt:lpstr>
      <vt:lpstr>FUTURE ENHANCEMENT</vt:lpstr>
      <vt:lpstr>EXPECTED OUTPUTS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J Sahithi</cp:lastModifiedBy>
  <cp:revision>53</cp:revision>
  <cp:lastPrinted>2025-10-14T18:21:49Z</cp:lastPrinted>
  <dcterms:created xsi:type="dcterms:W3CDTF">2025-10-10T08:28:06Z</dcterms:created>
  <dcterms:modified xsi:type="dcterms:W3CDTF">2026-10-23T13:27:53Z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