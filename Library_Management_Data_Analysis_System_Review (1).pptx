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5" r:id="rId10"/>
    <p:sldId id="266" r:id="rId11"/>
    <p:sldId id="267" r:id="rId12"/>
    <p:sldId id="268" r:id="rId13"/>
    <p:sldId id="269" r:id="rId14"/>
    <p:sldId id="270" r:id="rId15"/>
    <p:sldId id="271"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979" autoAdjust="0"/>
    <p:restoredTop sz="94660"/>
  </p:normalViewPr>
  <p:slideViewPr>
    <p:cSldViewPr snapToGrid="0" snapToObjects="1">
      <p:cViewPr>
        <p:scale>
          <a:sx n="73" d="100"/>
          <a:sy n="73" d="100"/>
        </p:scale>
        <p:origin x="-859" y="389"/>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 Sahithi" userId="28be606b5a3c1747" providerId="LiveId" clId="{C1E507D0-7643-4241-80D5-6B22B05DAC52}"/>
    <pc:docChg chg="modSld sldOrd">
      <pc:chgData name="J Sahithi" userId="28be606b5a3c1747" providerId="LiveId" clId="{C1E507D0-7643-4241-80D5-6B22B05DAC52}" dt="2026-10-18T06:50:38.413" v="47" actId="20577"/>
      <pc:docMkLst>
        <pc:docMk/>
      </pc:docMkLst>
      <pc:sldChg chg="modSp mod">
        <pc:chgData name="J Sahithi" userId="28be606b5a3c1747" providerId="LiveId" clId="{C1E507D0-7643-4241-80D5-6B22B05DAC52}" dt="2026-09-29T07:42:22.227" v="45" actId="20577"/>
        <pc:sldMkLst>
          <pc:docMk/>
          <pc:sldMk cId="0" sldId="258"/>
        </pc:sldMkLst>
        <pc:spChg chg="mod">
          <ac:chgData name="J Sahithi" userId="28be606b5a3c1747" providerId="LiveId" clId="{C1E507D0-7643-4241-80D5-6B22B05DAC52}" dt="2026-09-29T07:42:22.227" v="45" actId="20577"/>
          <ac:spMkLst>
            <pc:docMk/>
            <pc:sldMk cId="0" sldId="258"/>
            <ac:spMk id="10" creationId="{00000000-0000-0000-0000-000000000000}"/>
          </ac:spMkLst>
        </pc:spChg>
      </pc:sldChg>
      <pc:sldChg chg="modSp mod ord">
        <pc:chgData name="J Sahithi" userId="28be606b5a3c1747" providerId="LiveId" clId="{C1E507D0-7643-4241-80D5-6B22B05DAC52}" dt="2026-10-18T06:50:38.413" v="47" actId="20577"/>
        <pc:sldMkLst>
          <pc:docMk/>
          <pc:sldMk cId="0" sldId="259"/>
        </pc:sldMkLst>
        <pc:graphicFrameChg chg="modGraphic">
          <ac:chgData name="J Sahithi" userId="28be606b5a3c1747" providerId="LiveId" clId="{C1E507D0-7643-4241-80D5-6B22B05DAC52}" dt="2026-10-18T06:50:38.413" v="47" actId="20577"/>
          <ac:graphicFrameMkLst>
            <pc:docMk/>
            <pc:sldMk cId="0" sldId="259"/>
            <ac:graphicFrameMk id="4" creationId="{00000000-0000-0000-0000-000000000000}"/>
          </ac:graphicFrameMkLst>
        </pc:graphicFrameChg>
        <pc:picChg chg="mod">
          <ac:chgData name="J Sahithi" userId="28be606b5a3c1747" providerId="LiveId" clId="{C1E507D0-7643-4241-80D5-6B22B05DAC52}" dt="2026-09-28T16:41:25.529" v="0" actId="1038"/>
          <ac:picMkLst>
            <pc:docMk/>
            <pc:sldMk cId="0" sldId="259"/>
            <ac:picMk id="8" creationId="{00000000-0000-0000-0000-000000000000}"/>
          </ac:picMkLst>
        </pc:picChg>
      </pc:sldChg>
      <pc:sldChg chg="modSp mod">
        <pc:chgData name="J Sahithi" userId="28be606b5a3c1747" providerId="LiveId" clId="{C1E507D0-7643-4241-80D5-6B22B05DAC52}" dt="2026-09-29T07:28:30.611" v="17" actId="20577"/>
        <pc:sldMkLst>
          <pc:docMk/>
          <pc:sldMk cId="0" sldId="261"/>
        </pc:sldMkLst>
        <pc:spChg chg="mod">
          <ac:chgData name="J Sahithi" userId="28be606b5a3c1747" providerId="LiveId" clId="{C1E507D0-7643-4241-80D5-6B22B05DAC52}" dt="2026-09-29T07:28:30.611" v="17" actId="20577"/>
          <ac:spMkLst>
            <pc:docMk/>
            <pc:sldMk cId="0" sldId="261"/>
            <ac:spMk id="9"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3F32DFE-FC35-4A88-A174-E4B85493F87C}" type="datetimeFigureOut">
              <a:rPr lang="en-US" smtClean="0"/>
              <a:t>10/18/2026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E77B08-0B41-434F-9AC9-58ADD86340D2}" type="slidenum">
              <a:rPr lang="en-US" smtClean="0"/>
              <a:t>‹#›</a:t>
            </a:fld>
            <a:endParaRPr lang="en-US"/>
          </a:p>
        </p:txBody>
      </p:sp>
    </p:spTree>
    <p:extLst>
      <p:ext uri="{BB962C8B-B14F-4D97-AF65-F5344CB8AC3E}">
        <p14:creationId xmlns:p14="http://schemas.microsoft.com/office/powerpoint/2010/main" val="37226258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FE77B08-0B41-434F-9AC9-58ADD86340D2}" type="slidenum">
              <a:rPr lang="en-US" smtClean="0"/>
              <a:t>5</a:t>
            </a:fld>
            <a:endParaRPr lang="en-US"/>
          </a:p>
        </p:txBody>
      </p:sp>
    </p:spTree>
    <p:extLst>
      <p:ext uri="{BB962C8B-B14F-4D97-AF65-F5344CB8AC3E}">
        <p14:creationId xmlns:p14="http://schemas.microsoft.com/office/powerpoint/2010/main" val="16381895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2722853" y="1143000"/>
            <a:ext cx="7535268" cy="1323439"/>
          </a:xfrm>
          <a:prstGeom prst="rect">
            <a:avLst/>
          </a:prstGeom>
          <a:noFill/>
        </p:spPr>
        <p:txBody>
          <a:bodyPr wrap="none">
            <a:spAutoFit/>
          </a:bodyPr>
          <a:lstStyle/>
          <a:p>
            <a:pPr algn="ctr"/>
            <a:r>
              <a:rPr lang="en-US" sz="2600" b="1" dirty="0">
                <a:solidFill>
                  <a:srgbClr val="1F3756"/>
                </a:solidFill>
              </a:rPr>
              <a:t>Data Analysis Essentials</a:t>
            </a:r>
          </a:p>
          <a:p>
            <a:pPr algn="ctr"/>
            <a:r>
              <a:rPr sz="2600" b="1" dirty="0">
                <a:solidFill>
                  <a:srgbClr val="1F3756"/>
                </a:solidFill>
              </a:rPr>
              <a:t>Cornerstone Project — Second Review</a:t>
            </a:r>
            <a:endParaRPr lang="en-US" sz="2600" b="1" dirty="0">
              <a:solidFill>
                <a:srgbClr val="1F3756"/>
              </a:solidFill>
            </a:endParaRPr>
          </a:p>
          <a:p>
            <a:pPr algn="ctr"/>
            <a:r>
              <a:rPr lang="en-US" sz="2800" b="1" dirty="0">
                <a:solidFill>
                  <a:srgbClr val="1F3756"/>
                </a:solidFill>
              </a:rPr>
              <a:t> LIBRARY MANAGEMENT DATA ANALYSIS SYSTEM</a:t>
            </a:r>
          </a:p>
        </p:txBody>
      </p:sp>
      <p:sp>
        <p:nvSpPr>
          <p:cNvPr id="4" name="Rounded Rectangle 3"/>
          <p:cNvSpPr/>
          <p:nvPr/>
        </p:nvSpPr>
        <p:spPr>
          <a:xfrm>
            <a:off x="777240" y="3749039"/>
            <a:ext cx="5212080" cy="1906694"/>
          </a:xfrm>
          <a:prstGeom prst="roundRect">
            <a:avLst/>
          </a:prstGeom>
          <a:solidFill>
            <a:srgbClr val="F2F5F9"/>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41832" y="3877055"/>
            <a:ext cx="4882896" cy="1631216"/>
          </a:xfrm>
          <a:prstGeom prst="rect">
            <a:avLst/>
          </a:prstGeom>
          <a:noFill/>
        </p:spPr>
        <p:txBody>
          <a:bodyPr wrap="square">
            <a:spAutoFit/>
          </a:bodyPr>
          <a:lstStyle/>
          <a:p>
            <a:pPr>
              <a:defRPr sz="1500" b="1">
                <a:solidFill>
                  <a:srgbClr val="1F3756"/>
                </a:solidFill>
              </a:defRPr>
            </a:pPr>
            <a:r>
              <a:rPr sz="2000" dirty="0"/>
              <a:t>Presented by</a:t>
            </a:r>
          </a:p>
          <a:p>
            <a:pPr>
              <a:defRPr sz="1250">
                <a:solidFill>
                  <a:srgbClr val="2D2D2D"/>
                </a:solidFill>
              </a:defRPr>
            </a:pPr>
            <a:r>
              <a:rPr lang="en-IN" sz="2000" dirty="0"/>
              <a:t>CH. TEJA - 25B11AI203</a:t>
            </a:r>
          </a:p>
          <a:p>
            <a:pPr>
              <a:defRPr sz="1250">
                <a:solidFill>
                  <a:srgbClr val="2D2D2D"/>
                </a:solidFill>
              </a:defRPr>
            </a:pPr>
            <a:r>
              <a:rPr lang="en-IN" sz="2000" dirty="0"/>
              <a:t>J. SAHITHI - 25B11AI417</a:t>
            </a:r>
          </a:p>
          <a:p>
            <a:pPr>
              <a:defRPr sz="1250">
                <a:solidFill>
                  <a:srgbClr val="2D2D2D"/>
                </a:solidFill>
              </a:defRPr>
            </a:pPr>
            <a:r>
              <a:rPr lang="en-IN" sz="2000" dirty="0"/>
              <a:t>K. SOWMYA - 25B11AI502</a:t>
            </a:r>
          </a:p>
          <a:p>
            <a:pPr>
              <a:defRPr sz="1250">
                <a:solidFill>
                  <a:srgbClr val="2D2D2D"/>
                </a:solidFill>
              </a:defRPr>
            </a:pPr>
            <a:r>
              <a:rPr lang="en-IN" sz="2000" dirty="0"/>
              <a:t>P. SUPRAJA - 25B11AI906</a:t>
            </a:r>
            <a:endParaRPr sz="2000" dirty="0"/>
          </a:p>
        </p:txBody>
      </p:sp>
      <p:sp>
        <p:nvSpPr>
          <p:cNvPr id="6" name="Rounded Rectangle 5"/>
          <p:cNvSpPr/>
          <p:nvPr/>
        </p:nvSpPr>
        <p:spPr>
          <a:xfrm>
            <a:off x="6263640" y="3749038"/>
            <a:ext cx="5151120" cy="1906695"/>
          </a:xfrm>
          <a:prstGeom prst="roundRect">
            <a:avLst/>
          </a:prstGeom>
          <a:solidFill>
            <a:srgbClr val="F2F5F9"/>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28231" y="3877055"/>
            <a:ext cx="4608576" cy="954107"/>
          </a:xfrm>
          <a:prstGeom prst="rect">
            <a:avLst/>
          </a:prstGeom>
          <a:noFill/>
        </p:spPr>
        <p:txBody>
          <a:bodyPr wrap="square">
            <a:spAutoFit/>
          </a:bodyPr>
          <a:lstStyle/>
          <a:p>
            <a:pPr>
              <a:defRPr sz="1500" b="1">
                <a:solidFill>
                  <a:srgbClr val="1F3756"/>
                </a:solidFill>
              </a:defRPr>
            </a:pPr>
            <a:r>
              <a:rPr sz="2000" b="1" dirty="0">
                <a:solidFill>
                  <a:srgbClr val="1F3756"/>
                </a:solidFill>
              </a:rPr>
              <a:t>Department</a:t>
            </a:r>
          </a:p>
          <a:p>
            <a:r>
              <a:rPr dirty="0"/>
              <a:t>Department of Artificial Intelligence &amp; Machine Learning</a:t>
            </a:r>
          </a:p>
        </p:txBody>
      </p:sp>
      <p:pic>
        <p:nvPicPr>
          <p:cNvPr id="9" name="object 2">
            <a:extLst>
              <a:ext uri="{FF2B5EF4-FFF2-40B4-BE49-F238E27FC236}">
                <a16:creationId xmlns:a16="http://schemas.microsoft.com/office/drawing/2014/main" id="{4B0A9B6E-6BED-E770-BD74-9A366B3B1D82}"/>
              </a:ext>
            </a:extLst>
          </p:cNvPr>
          <p:cNvPicPr/>
          <p:nvPr/>
        </p:nvPicPr>
        <p:blipFill>
          <a:blip r:embed="rId2" cstate="print"/>
          <a:stretch>
            <a:fillRect/>
          </a:stretch>
        </p:blipFill>
        <p:spPr>
          <a:xfrm>
            <a:off x="3383280" y="270433"/>
            <a:ext cx="4610910" cy="62864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594360" y="1667058"/>
            <a:ext cx="10972800" cy="594360"/>
          </a:xfrm>
          <a:prstGeom prst="rect">
            <a:avLst/>
          </a:prstGeom>
          <a:noFill/>
        </p:spPr>
        <p:txBody>
          <a:bodyPr wrap="none">
            <a:spAutoFit/>
          </a:bodyPr>
          <a:lstStyle/>
          <a:p>
            <a:pPr>
              <a:defRPr sz="2600" b="1">
                <a:solidFill>
                  <a:srgbClr val="1F3756"/>
                </a:solidFill>
              </a:defRPr>
            </a:pPr>
            <a:r>
              <a:rPr dirty="0"/>
              <a:t>SECOND REVIEW — WHAT MUST BE DEMONSTRATED</a:t>
            </a:r>
          </a:p>
        </p:txBody>
      </p:sp>
      <p:sp>
        <p:nvSpPr>
          <p:cNvPr id="4" name="TextBox 3"/>
          <p:cNvSpPr txBox="1"/>
          <p:nvPr/>
        </p:nvSpPr>
        <p:spPr>
          <a:xfrm>
            <a:off x="612648" y="2279706"/>
            <a:ext cx="9148658" cy="369332"/>
          </a:xfrm>
          <a:prstGeom prst="rect">
            <a:avLst/>
          </a:prstGeom>
          <a:noFill/>
        </p:spPr>
        <p:txBody>
          <a:bodyPr wrap="none">
            <a:spAutoFit/>
          </a:bodyPr>
          <a:lstStyle/>
          <a:p>
            <a:r>
              <a:rPr dirty="0">
                <a:latin typeface="Times New Roman" panose="02020603050405020304" pitchFamily="18" charset="0"/>
                <a:cs typeface="Times New Roman" panose="02020603050405020304" pitchFamily="18" charset="0"/>
              </a:rPr>
              <a:t>This project emphasizes completed implementation, evidence, analysis results and interpretation.</a:t>
            </a:r>
          </a:p>
        </p:txBody>
      </p:sp>
      <p:sp>
        <p:nvSpPr>
          <p:cNvPr id="5" name="Rounded Rectangle 4"/>
          <p:cNvSpPr/>
          <p:nvPr/>
        </p:nvSpPr>
        <p:spPr>
          <a:xfrm>
            <a:off x="640080" y="2764337"/>
            <a:ext cx="3474720" cy="1448197"/>
          </a:xfrm>
          <a:prstGeom prst="roundRect">
            <a:avLst/>
          </a:prstGeom>
          <a:solidFill>
            <a:srgbClr val="F2F5F9"/>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04671" y="2892354"/>
            <a:ext cx="3145536" cy="1200329"/>
          </a:xfrm>
          <a:prstGeom prst="rect">
            <a:avLst/>
          </a:prstGeom>
          <a:noFill/>
        </p:spPr>
        <p:txBody>
          <a:bodyPr wrap="square">
            <a:spAutoFit/>
          </a:bodyPr>
          <a:lstStyle/>
          <a:p>
            <a:r>
              <a:rPr b="1" dirty="0">
                <a:solidFill>
                  <a:schemeClr val="tx2">
                    <a:lumMod val="75000"/>
                  </a:schemeClr>
                </a:solidFill>
                <a:latin typeface="Times New Roman" panose="02020603050405020304" pitchFamily="18" charset="0"/>
                <a:cs typeface="Times New Roman" panose="02020603050405020304" pitchFamily="18" charset="0"/>
              </a:rPr>
              <a:t>1. Implementation</a:t>
            </a:r>
          </a:p>
          <a:p>
            <a:r>
              <a:rPr dirty="0">
                <a:latin typeface="Times New Roman" panose="02020603050405020304" pitchFamily="18" charset="0"/>
                <a:cs typeface="Times New Roman" panose="02020603050405020304" pitchFamily="18" charset="0"/>
              </a:rPr>
              <a:t>Working notebook/code, successful execution and analysis outputs</a:t>
            </a:r>
          </a:p>
        </p:txBody>
      </p:sp>
      <p:sp>
        <p:nvSpPr>
          <p:cNvPr id="7" name="Rounded Rectangle 6"/>
          <p:cNvSpPr/>
          <p:nvPr/>
        </p:nvSpPr>
        <p:spPr>
          <a:xfrm>
            <a:off x="4343400" y="2808584"/>
            <a:ext cx="3474720" cy="1464514"/>
          </a:xfrm>
          <a:prstGeom prst="roundRect">
            <a:avLst/>
          </a:prstGeom>
          <a:solidFill>
            <a:srgbClr val="F2F5F9"/>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07992" y="2862858"/>
            <a:ext cx="3145536" cy="1200329"/>
          </a:xfrm>
          <a:prstGeom prst="rect">
            <a:avLst/>
          </a:prstGeom>
          <a:noFill/>
        </p:spPr>
        <p:txBody>
          <a:bodyPr wrap="square">
            <a:spAutoFit/>
          </a:bodyPr>
          <a:lstStyle/>
          <a:p>
            <a:r>
              <a:rPr b="1" dirty="0">
                <a:solidFill>
                  <a:schemeClr val="tx2">
                    <a:lumMod val="75000"/>
                  </a:schemeClr>
                </a:solidFill>
                <a:latin typeface="Times New Roman" panose="02020603050405020304" pitchFamily="18" charset="0"/>
                <a:cs typeface="Times New Roman" panose="02020603050405020304" pitchFamily="18" charset="0"/>
              </a:rPr>
              <a:t>2. Preprocessing</a:t>
            </a:r>
          </a:p>
          <a:p>
            <a:r>
              <a:rPr dirty="0">
                <a:latin typeface="Times New Roman" panose="02020603050405020304" pitchFamily="18" charset="0"/>
                <a:cs typeface="Times New Roman" panose="02020603050405020304" pitchFamily="18" charset="0"/>
              </a:rPr>
              <a:t>Actual missing-value treatment, duplicate removal, date transformation and final dataset</a:t>
            </a:r>
          </a:p>
        </p:txBody>
      </p:sp>
      <p:sp>
        <p:nvSpPr>
          <p:cNvPr id="9" name="Rounded Rectangle 8"/>
          <p:cNvSpPr/>
          <p:nvPr/>
        </p:nvSpPr>
        <p:spPr>
          <a:xfrm>
            <a:off x="8046720" y="2793834"/>
            <a:ext cx="3474720" cy="1479264"/>
          </a:xfrm>
          <a:prstGeom prst="roundRect">
            <a:avLst/>
          </a:prstGeom>
          <a:solidFill>
            <a:srgbClr val="F2F5F9"/>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11312" y="2907102"/>
            <a:ext cx="3145536" cy="1200329"/>
          </a:xfrm>
          <a:prstGeom prst="rect">
            <a:avLst/>
          </a:prstGeom>
          <a:noFill/>
        </p:spPr>
        <p:txBody>
          <a:bodyPr wrap="square">
            <a:spAutoFit/>
          </a:bodyPr>
          <a:lstStyle/>
          <a:p>
            <a:r>
              <a:rPr b="1" dirty="0">
                <a:solidFill>
                  <a:schemeClr val="tx2">
                    <a:lumMod val="75000"/>
                  </a:schemeClr>
                </a:solidFill>
                <a:latin typeface="Times New Roman" panose="02020603050405020304" pitchFamily="18" charset="0"/>
                <a:cs typeface="Times New Roman" panose="02020603050405020304" pitchFamily="18" charset="0"/>
              </a:rPr>
              <a:t>3</a:t>
            </a:r>
            <a:r>
              <a:rPr b="1" dirty="0">
                <a:latin typeface="Times New Roman" panose="02020603050405020304" pitchFamily="18" charset="0"/>
                <a:cs typeface="Times New Roman" panose="02020603050405020304" pitchFamily="18" charset="0"/>
              </a:rPr>
              <a:t>.</a:t>
            </a:r>
            <a:r>
              <a:rPr dirty="0">
                <a:latin typeface="Times New Roman" panose="02020603050405020304" pitchFamily="18" charset="0"/>
                <a:cs typeface="Times New Roman" panose="02020603050405020304" pitchFamily="18" charset="0"/>
              </a:rPr>
              <a:t> </a:t>
            </a:r>
            <a:r>
              <a:rPr b="1" dirty="0">
                <a:solidFill>
                  <a:schemeClr val="tx2">
                    <a:lumMod val="75000"/>
                  </a:schemeClr>
                </a:solidFill>
                <a:latin typeface="Times New Roman" panose="02020603050405020304" pitchFamily="18" charset="0"/>
                <a:cs typeface="Times New Roman" panose="02020603050405020304" pitchFamily="18" charset="0"/>
              </a:rPr>
              <a:t>Analysis</a:t>
            </a:r>
          </a:p>
          <a:p>
            <a:r>
              <a:rPr dirty="0">
                <a:latin typeface="Times New Roman" panose="02020603050405020304" pitchFamily="18" charset="0"/>
                <a:cs typeface="Times New Roman" panose="02020603050405020304" pitchFamily="18" charset="0"/>
              </a:rPr>
              <a:t>Issue/return analysis, borrowing statistics, category analysis and patterns</a:t>
            </a:r>
          </a:p>
        </p:txBody>
      </p:sp>
      <p:sp>
        <p:nvSpPr>
          <p:cNvPr id="11" name="Rounded Rectangle 10"/>
          <p:cNvSpPr/>
          <p:nvPr/>
        </p:nvSpPr>
        <p:spPr>
          <a:xfrm>
            <a:off x="640080" y="4538567"/>
            <a:ext cx="3474720" cy="1234440"/>
          </a:xfrm>
          <a:prstGeom prst="roundRect">
            <a:avLst/>
          </a:prstGeom>
          <a:solidFill>
            <a:srgbClr val="F2F5F9"/>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04671" y="4578093"/>
            <a:ext cx="3145536" cy="923330"/>
          </a:xfrm>
          <a:prstGeom prst="rect">
            <a:avLst/>
          </a:prstGeom>
          <a:noFill/>
        </p:spPr>
        <p:txBody>
          <a:bodyPr wrap="square">
            <a:spAutoFit/>
          </a:bodyPr>
          <a:lstStyle/>
          <a:p>
            <a:r>
              <a:rPr b="1" dirty="0">
                <a:solidFill>
                  <a:schemeClr val="tx2">
                    <a:lumMod val="75000"/>
                  </a:schemeClr>
                </a:solidFill>
                <a:latin typeface="Times New Roman" panose="02020603050405020304" pitchFamily="18" charset="0"/>
                <a:cs typeface="Times New Roman" panose="02020603050405020304" pitchFamily="18" charset="0"/>
              </a:rPr>
              <a:t>4. Visualization</a:t>
            </a:r>
          </a:p>
          <a:p>
            <a:r>
              <a:rPr dirty="0">
                <a:latin typeface="Times New Roman" panose="02020603050405020304" pitchFamily="18" charset="0"/>
                <a:cs typeface="Times New Roman" panose="02020603050405020304" pitchFamily="18" charset="0"/>
              </a:rPr>
              <a:t>Bar, pie and line charts with clear interpretation</a:t>
            </a:r>
          </a:p>
        </p:txBody>
      </p:sp>
      <p:sp>
        <p:nvSpPr>
          <p:cNvPr id="13" name="Rounded Rectangle 12"/>
          <p:cNvSpPr/>
          <p:nvPr/>
        </p:nvSpPr>
        <p:spPr>
          <a:xfrm>
            <a:off x="4343400" y="4582816"/>
            <a:ext cx="3474720" cy="1234440"/>
          </a:xfrm>
          <a:prstGeom prst="roundRect">
            <a:avLst/>
          </a:prstGeom>
          <a:solidFill>
            <a:srgbClr val="F2F5F9"/>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07992" y="4563342"/>
            <a:ext cx="3145536" cy="1200329"/>
          </a:xfrm>
          <a:prstGeom prst="rect">
            <a:avLst/>
          </a:prstGeom>
          <a:noFill/>
        </p:spPr>
        <p:txBody>
          <a:bodyPr wrap="square">
            <a:spAutoFit/>
          </a:bodyPr>
          <a:lstStyle/>
          <a:p>
            <a:r>
              <a:rPr b="1" dirty="0">
                <a:solidFill>
                  <a:schemeClr val="tx2">
                    <a:lumMod val="75000"/>
                  </a:schemeClr>
                </a:solidFill>
                <a:latin typeface="Times New Roman" panose="02020603050405020304" pitchFamily="18" charset="0"/>
                <a:cs typeface="Times New Roman" panose="02020603050405020304" pitchFamily="18" charset="0"/>
              </a:rPr>
              <a:t>5. Results</a:t>
            </a:r>
          </a:p>
          <a:p>
            <a:r>
              <a:rPr dirty="0">
                <a:latin typeface="Times New Roman" panose="02020603050405020304" pitchFamily="18" charset="0"/>
                <a:cs typeface="Times New Roman" panose="02020603050405020304" pitchFamily="18" charset="0"/>
              </a:rPr>
              <a:t>Key findings, borrowing patterns, conclusions and recommendations</a:t>
            </a:r>
          </a:p>
        </p:txBody>
      </p:sp>
      <p:sp>
        <p:nvSpPr>
          <p:cNvPr id="15" name="Rounded Rectangle 14"/>
          <p:cNvSpPr/>
          <p:nvPr/>
        </p:nvSpPr>
        <p:spPr>
          <a:xfrm>
            <a:off x="8046720" y="4538563"/>
            <a:ext cx="3474720" cy="1234440"/>
          </a:xfrm>
          <a:prstGeom prst="roundRect">
            <a:avLst/>
          </a:prstGeom>
          <a:solidFill>
            <a:srgbClr val="F2F5F9"/>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11312" y="4607590"/>
            <a:ext cx="3145536" cy="923330"/>
          </a:xfrm>
          <a:prstGeom prst="rect">
            <a:avLst/>
          </a:prstGeom>
          <a:noFill/>
        </p:spPr>
        <p:txBody>
          <a:bodyPr wrap="square">
            <a:spAutoFit/>
          </a:bodyPr>
          <a:lstStyle/>
          <a:p>
            <a:r>
              <a:rPr b="1" dirty="0">
                <a:solidFill>
                  <a:schemeClr val="tx2">
                    <a:lumMod val="75000"/>
                  </a:schemeClr>
                </a:solidFill>
                <a:latin typeface="Times New Roman" panose="02020603050405020304" pitchFamily="18" charset="0"/>
                <a:cs typeface="Times New Roman" panose="02020603050405020304" pitchFamily="18" charset="0"/>
              </a:rPr>
              <a:t>6. Presentation</a:t>
            </a:r>
          </a:p>
          <a:p>
            <a:r>
              <a:rPr dirty="0">
                <a:latin typeface="Times New Roman" panose="02020603050405020304" pitchFamily="18" charset="0"/>
                <a:cs typeface="Times New Roman" panose="02020603050405020304" pitchFamily="18" charset="0"/>
              </a:rPr>
              <a:t>Report/notebook evidence and clear individual contribution</a:t>
            </a:r>
          </a:p>
        </p:txBody>
      </p:sp>
      <p:pic>
        <p:nvPicPr>
          <p:cNvPr id="54" name="object 3">
            <a:extLst>
              <a:ext uri="{FF2B5EF4-FFF2-40B4-BE49-F238E27FC236}">
                <a16:creationId xmlns:a16="http://schemas.microsoft.com/office/drawing/2014/main" id="{D7544F32-DE5A-1C03-8915-B2D3A466174B}"/>
              </a:ext>
            </a:extLst>
          </p:cNvPr>
          <p:cNvPicPr/>
          <p:nvPr/>
        </p:nvPicPr>
        <p:blipFill>
          <a:blip r:embed="rId2" cstate="print"/>
          <a:stretch>
            <a:fillRect/>
          </a:stretch>
        </p:blipFill>
        <p:spPr>
          <a:xfrm>
            <a:off x="290749" y="204310"/>
            <a:ext cx="1488889" cy="59435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594360" y="988635"/>
            <a:ext cx="10124246" cy="492443"/>
          </a:xfrm>
          <a:prstGeom prst="rect">
            <a:avLst/>
          </a:prstGeom>
          <a:noFill/>
        </p:spPr>
        <p:txBody>
          <a:bodyPr wrap="none">
            <a:spAutoFit/>
          </a:bodyPr>
          <a:lstStyle/>
          <a:p>
            <a:pPr>
              <a:defRPr sz="2600" b="1">
                <a:solidFill>
                  <a:srgbClr val="1F3756"/>
                </a:solidFill>
              </a:defRPr>
            </a:pPr>
            <a:r>
              <a:rPr dirty="0"/>
              <a:t>PROJECT OVERVIEW — </a:t>
            </a:r>
            <a:r>
              <a:rPr lang="en-IN" dirty="0"/>
              <a:t>LIBRARY MANAGEMENT DATA ANALYSIS SYSTEM</a:t>
            </a:r>
            <a:endParaRPr dirty="0"/>
          </a:p>
        </p:txBody>
      </p:sp>
      <p:sp>
        <p:nvSpPr>
          <p:cNvPr id="4" name="TextBox 3"/>
          <p:cNvSpPr txBox="1"/>
          <p:nvPr/>
        </p:nvSpPr>
        <p:spPr>
          <a:xfrm>
            <a:off x="640080" y="1948755"/>
            <a:ext cx="6400800" cy="4247317"/>
          </a:xfrm>
          <a:prstGeom prst="rect">
            <a:avLst/>
          </a:prstGeom>
          <a:noFill/>
        </p:spPr>
        <p:txBody>
          <a:bodyPr wrap="square">
            <a:spAutoFit/>
          </a:bodyPr>
          <a:lstStyle/>
          <a:p>
            <a:r>
              <a:rPr b="1" dirty="0">
                <a:latin typeface="Times New Roman" panose="02020603050405020304" pitchFamily="18" charset="0"/>
                <a:cs typeface="Times New Roman" panose="02020603050405020304" pitchFamily="18" charset="0"/>
              </a:rPr>
              <a:t>Problem: </a:t>
            </a:r>
            <a:r>
              <a:rPr dirty="0">
                <a:latin typeface="Times New Roman" panose="02020603050405020304" pitchFamily="18" charset="0"/>
                <a:cs typeface="Times New Roman" panose="02020603050405020304" pitchFamily="18" charset="0"/>
              </a:rPr>
              <a:t>To analyze library records and understand book borrowing patterns.</a:t>
            </a:r>
            <a:endParaRPr lang="en-US" dirty="0">
              <a:latin typeface="Times New Roman" panose="02020603050405020304" pitchFamily="18" charset="0"/>
              <a:cs typeface="Times New Roman" panose="02020603050405020304" pitchFamily="18" charset="0"/>
            </a:endParaRPr>
          </a:p>
          <a:p>
            <a:endParaRPr dirty="0">
              <a:latin typeface="Times New Roman" panose="02020603050405020304" pitchFamily="18" charset="0"/>
              <a:cs typeface="Times New Roman" panose="02020603050405020304" pitchFamily="18" charset="0"/>
            </a:endParaRPr>
          </a:p>
          <a:p>
            <a:r>
              <a:rPr b="1" dirty="0">
                <a:latin typeface="Times New Roman" panose="02020603050405020304" pitchFamily="18" charset="0"/>
                <a:cs typeface="Times New Roman" panose="02020603050405020304" pitchFamily="18" charset="0"/>
              </a:rPr>
              <a:t>Objective</a:t>
            </a:r>
            <a:r>
              <a:rPr dirty="0">
                <a:latin typeface="Times New Roman" panose="02020603050405020304" pitchFamily="18" charset="0"/>
                <a:cs typeface="Times New Roman" panose="02020603050405020304" pitchFamily="18" charset="0"/>
              </a:rPr>
              <a:t>: Analyze book issue and return records, find the most borrowed books, analyze student borrowing statistics, perform category-wise analysis, visualize the results and support book recommendations.</a:t>
            </a:r>
            <a:endParaRPr lang="en-US" dirty="0">
              <a:latin typeface="Times New Roman" panose="02020603050405020304" pitchFamily="18" charset="0"/>
              <a:cs typeface="Times New Roman" panose="02020603050405020304" pitchFamily="18" charset="0"/>
            </a:endParaRPr>
          </a:p>
          <a:p>
            <a:endParaRPr dirty="0">
              <a:latin typeface="Times New Roman" panose="02020603050405020304" pitchFamily="18" charset="0"/>
              <a:cs typeface="Times New Roman" panose="02020603050405020304" pitchFamily="18" charset="0"/>
            </a:endParaRPr>
          </a:p>
          <a:p>
            <a:r>
              <a:rPr b="1" dirty="0">
                <a:latin typeface="Times New Roman" panose="02020603050405020304" pitchFamily="18" charset="0"/>
                <a:cs typeface="Times New Roman" panose="02020603050405020304" pitchFamily="18" charset="0"/>
              </a:rPr>
              <a:t>Domain</a:t>
            </a:r>
            <a:r>
              <a:rPr dirty="0">
                <a:latin typeface="Times New Roman" panose="02020603050405020304" pitchFamily="18" charset="0"/>
                <a:cs typeface="Times New Roman" panose="02020603050405020304" pitchFamily="18" charset="0"/>
              </a:rPr>
              <a:t>: Library Management</a:t>
            </a:r>
            <a:endParaRPr lang="en-US" dirty="0">
              <a:latin typeface="Times New Roman" panose="02020603050405020304" pitchFamily="18" charset="0"/>
              <a:cs typeface="Times New Roman" panose="02020603050405020304" pitchFamily="18" charset="0"/>
            </a:endParaRPr>
          </a:p>
          <a:p>
            <a:endParaRPr dirty="0">
              <a:latin typeface="Times New Roman" panose="02020603050405020304" pitchFamily="18" charset="0"/>
              <a:cs typeface="Times New Roman" panose="02020603050405020304" pitchFamily="18" charset="0"/>
            </a:endParaRPr>
          </a:p>
          <a:p>
            <a:r>
              <a:rPr b="1" dirty="0">
                <a:latin typeface="Times New Roman" panose="02020603050405020304" pitchFamily="18" charset="0"/>
                <a:cs typeface="Times New Roman" panose="02020603050405020304" pitchFamily="18" charset="0"/>
              </a:rPr>
              <a:t>Dataset used in this project</a:t>
            </a:r>
            <a:r>
              <a:rPr dirty="0">
                <a:latin typeface="Times New Roman" panose="02020603050405020304" pitchFamily="18" charset="0"/>
                <a:cs typeface="Times New Roman" panose="02020603050405020304" pitchFamily="18" charset="0"/>
              </a:rPr>
              <a:t>: Library transaction records with book, student, category, issue, return and status information.</a:t>
            </a:r>
            <a:endParaRPr lang="en-US" dirty="0">
              <a:latin typeface="Times New Roman" panose="02020603050405020304" pitchFamily="18" charset="0"/>
              <a:cs typeface="Times New Roman" panose="02020603050405020304" pitchFamily="18" charset="0"/>
            </a:endParaRPr>
          </a:p>
          <a:p>
            <a:endParaRPr dirty="0">
              <a:latin typeface="Times New Roman" panose="02020603050405020304" pitchFamily="18" charset="0"/>
              <a:cs typeface="Times New Roman" panose="02020603050405020304" pitchFamily="18" charset="0"/>
            </a:endParaRPr>
          </a:p>
          <a:p>
            <a:r>
              <a:rPr b="1" dirty="0">
                <a:latin typeface="Times New Roman" panose="02020603050405020304" pitchFamily="18" charset="0"/>
                <a:cs typeface="Times New Roman" panose="02020603050405020304" pitchFamily="18" charset="0"/>
              </a:rPr>
              <a:t>Outcome: </a:t>
            </a:r>
            <a:r>
              <a:rPr dirty="0">
                <a:latin typeface="Times New Roman" panose="02020603050405020304" pitchFamily="18" charset="0"/>
                <a:cs typeface="Times New Roman" panose="02020603050405020304" pitchFamily="18" charset="0"/>
              </a:rPr>
              <a:t>The project helps identify borrowing patterns and provides useful insights for library management.</a:t>
            </a:r>
          </a:p>
        </p:txBody>
      </p:sp>
      <p:sp>
        <p:nvSpPr>
          <p:cNvPr id="5" name="Rounded Rectangle 4"/>
          <p:cNvSpPr/>
          <p:nvPr/>
        </p:nvSpPr>
        <p:spPr>
          <a:xfrm>
            <a:off x="7406640" y="1709678"/>
            <a:ext cx="4069080" cy="1427797"/>
          </a:xfrm>
          <a:prstGeom prst="roundRect">
            <a:avLst/>
          </a:prstGeom>
          <a:solidFill>
            <a:srgbClr val="F2F5F9"/>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571231" y="1833865"/>
            <a:ext cx="3386821" cy="1200329"/>
          </a:xfrm>
          <a:prstGeom prst="rect">
            <a:avLst/>
          </a:prstGeom>
          <a:noFill/>
        </p:spPr>
        <p:txBody>
          <a:bodyPr wrap="square">
            <a:spAutoFit/>
          </a:bodyPr>
          <a:lstStyle/>
          <a:p>
            <a:r>
              <a:rPr b="1" dirty="0">
                <a:solidFill>
                  <a:schemeClr val="tx2">
                    <a:lumMod val="75000"/>
                  </a:schemeClr>
                </a:solidFill>
                <a:latin typeface="Times New Roman" panose="02020603050405020304" pitchFamily="18" charset="0"/>
                <a:cs typeface="Times New Roman" panose="02020603050405020304" pitchFamily="18" charset="0"/>
              </a:rPr>
              <a:t>Analysis Focus</a:t>
            </a:r>
          </a:p>
          <a:p>
            <a:r>
              <a:rPr dirty="0">
                <a:latin typeface="Times New Roman" panose="02020603050405020304" pitchFamily="18" charset="0"/>
                <a:cs typeface="Times New Roman" panose="02020603050405020304" pitchFamily="18" charset="0"/>
              </a:rPr>
              <a:t>Book issue/return status and borrowing patterns are analyzed to understand library usage.</a:t>
            </a:r>
          </a:p>
        </p:txBody>
      </p:sp>
      <p:sp>
        <p:nvSpPr>
          <p:cNvPr id="7" name="Rounded Rectangle 6"/>
          <p:cNvSpPr/>
          <p:nvPr/>
        </p:nvSpPr>
        <p:spPr>
          <a:xfrm>
            <a:off x="7406640" y="3366075"/>
            <a:ext cx="4069080" cy="1220673"/>
          </a:xfrm>
          <a:prstGeom prst="roundRect">
            <a:avLst/>
          </a:prstGeom>
          <a:solidFill>
            <a:srgbClr val="F2F5F9"/>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488935" y="3366075"/>
            <a:ext cx="3739896" cy="1200329"/>
          </a:xfrm>
          <a:prstGeom prst="rect">
            <a:avLst/>
          </a:prstGeom>
          <a:noFill/>
        </p:spPr>
        <p:txBody>
          <a:bodyPr wrap="square">
            <a:spAutoFit/>
          </a:bodyPr>
          <a:lstStyle/>
          <a:p>
            <a:r>
              <a:rPr b="1" dirty="0">
                <a:solidFill>
                  <a:schemeClr val="tx2">
                    <a:lumMod val="75000"/>
                  </a:schemeClr>
                </a:solidFill>
                <a:latin typeface="Times New Roman" panose="02020603050405020304" pitchFamily="18" charset="0"/>
                <a:cs typeface="Times New Roman" panose="02020603050405020304" pitchFamily="18" charset="0"/>
              </a:rPr>
              <a:t>Important Features</a:t>
            </a:r>
          </a:p>
          <a:p>
            <a:r>
              <a:rPr dirty="0">
                <a:latin typeface="Times New Roman" panose="02020603050405020304" pitchFamily="18" charset="0"/>
                <a:cs typeface="Times New Roman" panose="02020603050405020304" pitchFamily="18" charset="0"/>
              </a:rPr>
              <a:t>Book Title, Category, Student_ID, </a:t>
            </a:r>
            <a:r>
              <a:rPr dirty="0" err="1">
                <a:latin typeface="Times New Roman" panose="02020603050405020304" pitchFamily="18" charset="0"/>
                <a:cs typeface="Times New Roman" panose="02020603050405020304" pitchFamily="18" charset="0"/>
              </a:rPr>
              <a:t>Issue_Date</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Return_Date</a:t>
            </a:r>
            <a:r>
              <a:rPr dirty="0">
                <a:latin typeface="Times New Roman" panose="02020603050405020304" pitchFamily="18" charset="0"/>
                <a:cs typeface="Times New Roman" panose="02020603050405020304" pitchFamily="18" charset="0"/>
              </a:rPr>
              <a:t>, Status, Author</a:t>
            </a:r>
          </a:p>
        </p:txBody>
      </p:sp>
      <p:sp>
        <p:nvSpPr>
          <p:cNvPr id="9" name="Rounded Rectangle 8"/>
          <p:cNvSpPr/>
          <p:nvPr/>
        </p:nvSpPr>
        <p:spPr>
          <a:xfrm>
            <a:off x="7406640" y="4819971"/>
            <a:ext cx="3904487" cy="1610326"/>
          </a:xfrm>
          <a:prstGeom prst="roundRect">
            <a:avLst/>
          </a:prstGeom>
          <a:solidFill>
            <a:srgbClr val="F2F5F9"/>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571231" y="5007591"/>
            <a:ext cx="3739896" cy="923330"/>
          </a:xfrm>
          <a:prstGeom prst="rect">
            <a:avLst/>
          </a:prstGeom>
          <a:noFill/>
        </p:spPr>
        <p:txBody>
          <a:bodyPr wrap="square">
            <a:spAutoFit/>
          </a:bodyPr>
          <a:lstStyle/>
          <a:p>
            <a:r>
              <a:rPr b="1" dirty="0">
                <a:solidFill>
                  <a:schemeClr val="tx2">
                    <a:lumMod val="75000"/>
                  </a:schemeClr>
                </a:solidFill>
                <a:latin typeface="Times New Roman" panose="02020603050405020304" pitchFamily="18" charset="0"/>
                <a:cs typeface="Times New Roman" panose="02020603050405020304" pitchFamily="18" charset="0"/>
              </a:rPr>
              <a:t>Tools</a:t>
            </a:r>
          </a:p>
          <a:p>
            <a:r>
              <a:rPr dirty="0">
                <a:latin typeface="Times New Roman" panose="02020603050405020304" pitchFamily="18" charset="0"/>
                <a:cs typeface="Times New Roman" panose="02020603050405020304" pitchFamily="18" charset="0"/>
              </a:rPr>
              <a:t>Python, Pandas, NumPy</a:t>
            </a:r>
            <a:r>
              <a:rPr>
                <a:latin typeface="Times New Roman" panose="02020603050405020304" pitchFamily="18" charset="0"/>
                <a:cs typeface="Times New Roman" panose="02020603050405020304" pitchFamily="18" charset="0"/>
              </a:rPr>
              <a:t>, Matplotlib, </a:t>
            </a:r>
            <a:r>
              <a:rPr dirty="0">
                <a:latin typeface="Times New Roman" panose="02020603050405020304" pitchFamily="18" charset="0"/>
                <a:cs typeface="Times New Roman" panose="02020603050405020304" pitchFamily="18" charset="0"/>
              </a:rPr>
              <a:t>Google Cola</a:t>
            </a:r>
            <a:r>
              <a:rPr lang="en-IN" dirty="0">
                <a:latin typeface="Times New Roman" panose="02020603050405020304" pitchFamily="18" charset="0"/>
                <a:cs typeface="Times New Roman" panose="02020603050405020304" pitchFamily="18" charset="0"/>
              </a:rPr>
              <a:t>b</a:t>
            </a:r>
            <a:endParaRPr dirty="0">
              <a:latin typeface="Times New Roman" panose="02020603050405020304" pitchFamily="18" charset="0"/>
              <a:cs typeface="Times New Roman" panose="02020603050405020304" pitchFamily="18" charset="0"/>
            </a:endParaRPr>
          </a:p>
        </p:txBody>
      </p:sp>
      <p:pic>
        <p:nvPicPr>
          <p:cNvPr id="12" name="object 3">
            <a:extLst>
              <a:ext uri="{FF2B5EF4-FFF2-40B4-BE49-F238E27FC236}">
                <a16:creationId xmlns:a16="http://schemas.microsoft.com/office/drawing/2014/main" id="{58E52A97-EAE7-90F5-C23B-D7ED7B7B5638}"/>
              </a:ext>
            </a:extLst>
          </p:cNvPr>
          <p:cNvPicPr/>
          <p:nvPr/>
        </p:nvPicPr>
        <p:blipFill>
          <a:blip r:embed="rId2" cstate="print"/>
          <a:stretch>
            <a:fillRect/>
          </a:stretch>
        </p:blipFill>
        <p:spPr>
          <a:xfrm>
            <a:off x="290749" y="204310"/>
            <a:ext cx="1488889" cy="59435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594360" y="1204945"/>
            <a:ext cx="7245766" cy="492443"/>
          </a:xfrm>
          <a:prstGeom prst="rect">
            <a:avLst/>
          </a:prstGeom>
          <a:noFill/>
        </p:spPr>
        <p:txBody>
          <a:bodyPr wrap="none">
            <a:spAutoFit/>
          </a:bodyPr>
          <a:lstStyle/>
          <a:p>
            <a:r>
              <a:rPr sz="2600" b="1" dirty="0">
                <a:solidFill>
                  <a:srgbClr val="1F3756"/>
                </a:solidFill>
              </a:rPr>
              <a:t>DATASET SNAPSHOT — BEFORE &amp; AFTER CLEANING</a:t>
            </a:r>
          </a:p>
        </p:txBody>
      </p:sp>
      <p:graphicFrame>
        <p:nvGraphicFramePr>
          <p:cNvPr id="4" name="Table 3"/>
          <p:cNvGraphicFramePr>
            <a:graphicFrameLocks noGrp="1"/>
          </p:cNvGraphicFramePr>
          <p:nvPr>
            <p:extLst>
              <p:ext uri="{D42A27DB-BD31-4B8C-83A1-F6EECF244321}">
                <p14:modId xmlns:p14="http://schemas.microsoft.com/office/powerpoint/2010/main" val="1707312732"/>
              </p:ext>
            </p:extLst>
          </p:nvPr>
        </p:nvGraphicFramePr>
        <p:xfrm>
          <a:off x="640080" y="2210785"/>
          <a:ext cx="5486400" cy="3108960"/>
        </p:xfrm>
        <a:graphic>
          <a:graphicData uri="http://schemas.openxmlformats.org/drawingml/2006/table">
            <a:tbl>
              <a:tblPr firstRow="1" bandRow="1">
                <a:tableStyleId>{5C22544A-7EE6-4342-B048-85BDC9FD1C3A}</a:tableStyleId>
              </a:tblPr>
              <a:tblGrid>
                <a:gridCol w="192024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518160">
                <a:tc>
                  <a:txBody>
                    <a:bodyPr/>
                    <a:lstStyle/>
                    <a:p>
                      <a:r>
                        <a:rPr>
                          <a:latin typeface="Times New Roman" panose="02020603050405020304" pitchFamily="18" charset="0"/>
                          <a:cs typeface="Times New Roman" panose="02020603050405020304" pitchFamily="18" charset="0"/>
                        </a:rPr>
                        <a:t>Check</a:t>
                      </a:r>
                    </a:p>
                  </a:txBody>
                  <a:tcPr>
                    <a:solidFill>
                      <a:srgbClr val="1F3756"/>
                    </a:solidFill>
                  </a:tcPr>
                </a:tc>
                <a:tc>
                  <a:txBody>
                    <a:bodyPr/>
                    <a:lstStyle/>
                    <a:p>
                      <a:r>
                        <a:rPr>
                          <a:latin typeface="Times New Roman" panose="02020603050405020304" pitchFamily="18" charset="0"/>
                          <a:cs typeface="Times New Roman" panose="02020603050405020304" pitchFamily="18" charset="0"/>
                        </a:rPr>
                        <a:t>Before</a:t>
                      </a:r>
                    </a:p>
                  </a:txBody>
                  <a:tcPr>
                    <a:solidFill>
                      <a:srgbClr val="1F3756"/>
                    </a:solidFill>
                  </a:tcPr>
                </a:tc>
                <a:tc>
                  <a:txBody>
                    <a:bodyPr/>
                    <a:lstStyle/>
                    <a:p>
                      <a:r>
                        <a:rPr>
                          <a:latin typeface="Times New Roman" panose="02020603050405020304" pitchFamily="18" charset="0"/>
                          <a:cs typeface="Times New Roman" panose="02020603050405020304" pitchFamily="18" charset="0"/>
                        </a:rPr>
                        <a:t>After</a:t>
                      </a:r>
                    </a:p>
                  </a:txBody>
                  <a:tcPr>
                    <a:solidFill>
                      <a:srgbClr val="1F3756"/>
                    </a:solidFill>
                  </a:tcPr>
                </a:tc>
                <a:extLst>
                  <a:ext uri="{0D108BD9-81ED-4DB2-BD59-A6C34878D82A}">
                    <a16:rowId xmlns:a16="http://schemas.microsoft.com/office/drawing/2014/main" val="10000"/>
                  </a:ext>
                </a:extLst>
              </a:tr>
              <a:tr h="518160">
                <a:tc>
                  <a:txBody>
                    <a:bodyPr/>
                    <a:lstStyle/>
                    <a:p>
                      <a:r>
                        <a:rPr>
                          <a:latin typeface="Times New Roman" panose="02020603050405020304" pitchFamily="18" charset="0"/>
                          <a:cs typeface="Times New Roman" panose="02020603050405020304" pitchFamily="18" charset="0"/>
                        </a:rPr>
                        <a:t>Rows</a:t>
                      </a:r>
                    </a:p>
                  </a:txBody>
                  <a:tcPr/>
                </a:tc>
                <a:tc>
                  <a:txBody>
                    <a:bodyPr/>
                    <a:lstStyle/>
                    <a:p>
                      <a:r>
                        <a:rPr>
                          <a:latin typeface="Times New Roman" panose="02020603050405020304" pitchFamily="18" charset="0"/>
                          <a:cs typeface="Times New Roman" panose="02020603050405020304" pitchFamily="18" charset="0"/>
                        </a:rPr>
                        <a:t>500</a:t>
                      </a:r>
                    </a:p>
                  </a:txBody>
                  <a:tcPr/>
                </a:tc>
                <a:tc>
                  <a:txBody>
                    <a:bodyPr/>
                    <a:lstStyle/>
                    <a:p>
                      <a:r>
                        <a:rPr>
                          <a:latin typeface="Times New Roman" panose="02020603050405020304" pitchFamily="18" charset="0"/>
                          <a:cs typeface="Times New Roman" panose="02020603050405020304" pitchFamily="18" charset="0"/>
                        </a:rPr>
                        <a:t>498</a:t>
                      </a:r>
                    </a:p>
                  </a:txBody>
                  <a:tcPr/>
                </a:tc>
                <a:extLst>
                  <a:ext uri="{0D108BD9-81ED-4DB2-BD59-A6C34878D82A}">
                    <a16:rowId xmlns:a16="http://schemas.microsoft.com/office/drawing/2014/main" val="10001"/>
                  </a:ext>
                </a:extLst>
              </a:tr>
              <a:tr h="518160">
                <a:tc>
                  <a:txBody>
                    <a:bodyPr/>
                    <a:lstStyle/>
                    <a:p>
                      <a:r>
                        <a:rPr>
                          <a:latin typeface="Times New Roman" panose="02020603050405020304" pitchFamily="18" charset="0"/>
                          <a:cs typeface="Times New Roman" panose="02020603050405020304" pitchFamily="18" charset="0"/>
                        </a:rPr>
                        <a:t>Columns</a:t>
                      </a:r>
                    </a:p>
                  </a:txBody>
                  <a:tcPr/>
                </a:tc>
                <a:tc>
                  <a:txBody>
                    <a:bodyPr/>
                    <a:lstStyle/>
                    <a:p>
                      <a:r>
                        <a:rPr>
                          <a:latin typeface="Times New Roman" panose="02020603050405020304" pitchFamily="18" charset="0"/>
                          <a:cs typeface="Times New Roman" panose="02020603050405020304" pitchFamily="18" charset="0"/>
                        </a:rPr>
                        <a:t>10</a:t>
                      </a:r>
                    </a:p>
                  </a:txBody>
                  <a:tcPr/>
                </a:tc>
                <a:tc>
                  <a:txBody>
                    <a:bodyPr/>
                    <a:lstStyle/>
                    <a:p>
                      <a:r>
                        <a:rPr>
                          <a:latin typeface="Times New Roman" panose="02020603050405020304" pitchFamily="18" charset="0"/>
                          <a:cs typeface="Times New Roman" panose="02020603050405020304" pitchFamily="18" charset="0"/>
                        </a:rPr>
                        <a:t>10</a:t>
                      </a:r>
                    </a:p>
                  </a:txBody>
                  <a:tcPr/>
                </a:tc>
                <a:extLst>
                  <a:ext uri="{0D108BD9-81ED-4DB2-BD59-A6C34878D82A}">
                    <a16:rowId xmlns:a16="http://schemas.microsoft.com/office/drawing/2014/main" val="10002"/>
                  </a:ext>
                </a:extLst>
              </a:tr>
              <a:tr h="518160">
                <a:tc>
                  <a:txBody>
                    <a:bodyPr/>
                    <a:lstStyle/>
                    <a:p>
                      <a:r>
                        <a:rPr>
                          <a:latin typeface="Times New Roman" panose="02020603050405020304" pitchFamily="18" charset="0"/>
                          <a:cs typeface="Times New Roman" panose="02020603050405020304" pitchFamily="18" charset="0"/>
                        </a:rPr>
                        <a:t>Missing values</a:t>
                      </a:r>
                    </a:p>
                  </a:txBody>
                  <a:tcPr/>
                </a:tc>
                <a:tc>
                  <a:txBody>
                    <a:bodyPr/>
                    <a:lstStyle/>
                    <a:p>
                      <a:r>
                        <a:rPr lang="en-IN" dirty="0">
                          <a:latin typeface="Times New Roman" panose="02020603050405020304" pitchFamily="18" charset="0"/>
                          <a:cs typeface="Times New Roman" panose="02020603050405020304" pitchFamily="18" charset="0"/>
                        </a:rPr>
                        <a:t>4</a:t>
                      </a:r>
                      <a:endParaRPr dirty="0">
                        <a:latin typeface="Times New Roman" panose="02020603050405020304" pitchFamily="18" charset="0"/>
                        <a:cs typeface="Times New Roman" panose="02020603050405020304" pitchFamily="18" charset="0"/>
                      </a:endParaRPr>
                    </a:p>
                  </a:txBody>
                  <a:tcPr/>
                </a:tc>
                <a:tc>
                  <a:txBody>
                    <a:bodyPr/>
                    <a:lstStyle/>
                    <a:p>
                      <a:r>
                        <a:rPr>
                          <a:latin typeface="Times New Roman" panose="02020603050405020304" pitchFamily="18" charset="0"/>
                          <a:cs typeface="Times New Roman" panose="02020603050405020304" pitchFamily="18" charset="0"/>
                        </a:rPr>
                        <a:t>0</a:t>
                      </a:r>
                    </a:p>
                  </a:txBody>
                  <a:tcPr/>
                </a:tc>
                <a:extLst>
                  <a:ext uri="{0D108BD9-81ED-4DB2-BD59-A6C34878D82A}">
                    <a16:rowId xmlns:a16="http://schemas.microsoft.com/office/drawing/2014/main" val="10003"/>
                  </a:ext>
                </a:extLst>
              </a:tr>
              <a:tr h="518160">
                <a:tc>
                  <a:txBody>
                    <a:bodyPr/>
                    <a:lstStyle/>
                    <a:p>
                      <a:r>
                        <a:rPr>
                          <a:latin typeface="Times New Roman" panose="02020603050405020304" pitchFamily="18" charset="0"/>
                          <a:cs typeface="Times New Roman" panose="02020603050405020304" pitchFamily="18" charset="0"/>
                        </a:rPr>
                        <a:t>Duplicate rows</a:t>
                      </a:r>
                    </a:p>
                  </a:txBody>
                  <a:tcPr/>
                </a:tc>
                <a:tc>
                  <a:txBody>
                    <a:bodyPr/>
                    <a:lstStyle/>
                    <a:p>
                      <a:r>
                        <a:rPr dirty="0">
                          <a:latin typeface="Times New Roman" panose="02020603050405020304" pitchFamily="18" charset="0"/>
                          <a:cs typeface="Times New Roman" panose="02020603050405020304" pitchFamily="18" charset="0"/>
                        </a:rPr>
                        <a:t>2</a:t>
                      </a:r>
                    </a:p>
                  </a:txBody>
                  <a:tcPr/>
                </a:tc>
                <a:tc>
                  <a:txBody>
                    <a:bodyPr/>
                    <a:lstStyle/>
                    <a:p>
                      <a:r>
                        <a:rPr>
                          <a:latin typeface="Times New Roman" panose="02020603050405020304" pitchFamily="18" charset="0"/>
                          <a:cs typeface="Times New Roman" panose="02020603050405020304" pitchFamily="18" charset="0"/>
                        </a:rPr>
                        <a:t>0</a:t>
                      </a:r>
                    </a:p>
                  </a:txBody>
                  <a:tcPr/>
                </a:tc>
                <a:extLst>
                  <a:ext uri="{0D108BD9-81ED-4DB2-BD59-A6C34878D82A}">
                    <a16:rowId xmlns:a16="http://schemas.microsoft.com/office/drawing/2014/main" val="10004"/>
                  </a:ext>
                </a:extLst>
              </a:tr>
              <a:tr h="518160">
                <a:tc>
                  <a:txBody>
                    <a:bodyPr/>
                    <a:lstStyle/>
                    <a:p>
                      <a:r>
                        <a:rPr>
                          <a:latin typeface="Times New Roman" panose="02020603050405020304" pitchFamily="18" charset="0"/>
                          <a:cs typeface="Times New Roman" panose="02020603050405020304" pitchFamily="18" charset="0"/>
                        </a:rPr>
                        <a:t>Date format</a:t>
                      </a:r>
                    </a:p>
                  </a:txBody>
                  <a:tcPr/>
                </a:tc>
                <a:tc>
                  <a:txBody>
                    <a:bodyPr/>
                    <a:lstStyle/>
                    <a:p>
                      <a:r>
                        <a:rPr>
                          <a:latin typeface="Times New Roman" panose="02020603050405020304" pitchFamily="18" charset="0"/>
                          <a:cs typeface="Times New Roman" panose="02020603050405020304" pitchFamily="18" charset="0"/>
                        </a:rPr>
                        <a:t>Mixed</a:t>
                      </a:r>
                    </a:p>
                  </a:txBody>
                  <a:tcPr/>
                </a:tc>
                <a:tc>
                  <a:txBody>
                    <a:bodyPr/>
                    <a:lstStyle/>
                    <a:p>
                      <a:r>
                        <a:rPr dirty="0">
                          <a:latin typeface="Times New Roman" panose="02020603050405020304" pitchFamily="18" charset="0"/>
                          <a:cs typeface="Times New Roman" panose="02020603050405020304" pitchFamily="18" charset="0"/>
                        </a:rPr>
                        <a:t>Standardized</a:t>
                      </a:r>
                    </a:p>
                  </a:txBody>
                  <a:tcPr/>
                </a:tc>
                <a:extLst>
                  <a:ext uri="{0D108BD9-81ED-4DB2-BD59-A6C34878D82A}">
                    <a16:rowId xmlns:a16="http://schemas.microsoft.com/office/drawing/2014/main" val="10005"/>
                  </a:ext>
                </a:extLst>
              </a:tr>
            </a:tbl>
          </a:graphicData>
        </a:graphic>
      </p:graphicFrame>
      <p:pic>
        <p:nvPicPr>
          <p:cNvPr id="7" name="object 3">
            <a:extLst>
              <a:ext uri="{FF2B5EF4-FFF2-40B4-BE49-F238E27FC236}">
                <a16:creationId xmlns:a16="http://schemas.microsoft.com/office/drawing/2014/main" id="{DD64E89F-49CA-A014-6EA3-EAE0C3F39843}"/>
              </a:ext>
            </a:extLst>
          </p:cNvPr>
          <p:cNvPicPr/>
          <p:nvPr/>
        </p:nvPicPr>
        <p:blipFill>
          <a:blip r:embed="rId2" cstate="print"/>
          <a:stretch>
            <a:fillRect/>
          </a:stretch>
        </p:blipFill>
        <p:spPr>
          <a:xfrm>
            <a:off x="290749" y="204310"/>
            <a:ext cx="1488889" cy="594359"/>
          </a:xfrm>
          <a:prstGeom prst="rect">
            <a:avLst/>
          </a:prstGeom>
        </p:spPr>
      </p:pic>
      <p:pic>
        <p:nvPicPr>
          <p:cNvPr id="8" name="Picture 7" descr="slide4_dataset.png"/>
          <p:cNvPicPr>
            <a:picLocks noChangeAspect="1"/>
          </p:cNvPicPr>
          <p:nvPr/>
        </p:nvPicPr>
        <p:blipFill>
          <a:blip r:embed="rId3"/>
          <a:stretch>
            <a:fillRect/>
          </a:stretch>
        </p:blipFill>
        <p:spPr>
          <a:xfrm>
            <a:off x="6407727" y="2165065"/>
            <a:ext cx="5303520" cy="393192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594360" y="1008300"/>
            <a:ext cx="10972800" cy="594360"/>
          </a:xfrm>
          <a:prstGeom prst="rect">
            <a:avLst/>
          </a:prstGeom>
          <a:noFill/>
        </p:spPr>
        <p:txBody>
          <a:bodyPr wrap="none">
            <a:spAutoFit/>
          </a:bodyPr>
          <a:lstStyle/>
          <a:p>
            <a:pPr>
              <a:defRPr sz="2600" b="1">
                <a:solidFill>
                  <a:srgbClr val="1F3756"/>
                </a:solidFill>
              </a:defRPr>
            </a:pPr>
            <a:r>
              <a:t>IMPLEMENTATION — DATA PREPROCESSING WITH EVIDENCE</a:t>
            </a:r>
          </a:p>
        </p:txBody>
      </p:sp>
      <p:sp>
        <p:nvSpPr>
          <p:cNvPr id="5" name="Rounded Rectangle 4"/>
          <p:cNvSpPr/>
          <p:nvPr/>
        </p:nvSpPr>
        <p:spPr>
          <a:xfrm>
            <a:off x="7269480" y="1730676"/>
            <a:ext cx="4160520" cy="1115567"/>
          </a:xfrm>
          <a:prstGeom prst="roundRect">
            <a:avLst/>
          </a:prstGeom>
          <a:solidFill>
            <a:srgbClr val="F2F5F9"/>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34072" y="1861943"/>
            <a:ext cx="3831335" cy="923330"/>
          </a:xfrm>
          <a:prstGeom prst="rect">
            <a:avLst/>
          </a:prstGeom>
          <a:noFill/>
        </p:spPr>
        <p:txBody>
          <a:bodyPr wrap="square">
            <a:spAutoFit/>
          </a:bodyPr>
          <a:lstStyle/>
          <a:p>
            <a:r>
              <a:rPr b="1" dirty="0">
                <a:solidFill>
                  <a:schemeClr val="tx2">
                    <a:lumMod val="75000"/>
                  </a:schemeClr>
                </a:solidFill>
                <a:latin typeface="Times New Roman" panose="02020603050405020304" pitchFamily="18" charset="0"/>
                <a:cs typeface="Times New Roman" panose="02020603050405020304" pitchFamily="18" charset="0"/>
              </a:rPr>
              <a:t>Step 1 — Duplicates</a:t>
            </a:r>
          </a:p>
          <a:p>
            <a:r>
              <a:rPr dirty="0">
                <a:latin typeface="Times New Roman" panose="02020603050405020304" pitchFamily="18" charset="0"/>
                <a:cs typeface="Times New Roman" panose="02020603050405020304" pitchFamily="18" charset="0"/>
              </a:rPr>
              <a:t>Detected and removed duplicate library transaction records.</a:t>
            </a:r>
          </a:p>
        </p:txBody>
      </p:sp>
      <p:sp>
        <p:nvSpPr>
          <p:cNvPr id="7" name="Rounded Rectangle 6"/>
          <p:cNvSpPr/>
          <p:nvPr/>
        </p:nvSpPr>
        <p:spPr>
          <a:xfrm>
            <a:off x="7269480" y="3039153"/>
            <a:ext cx="4160520" cy="960120"/>
          </a:xfrm>
          <a:prstGeom prst="roundRect">
            <a:avLst/>
          </a:prstGeom>
          <a:solidFill>
            <a:srgbClr val="F2F5F9"/>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434072" y="3093431"/>
            <a:ext cx="3831335" cy="923330"/>
          </a:xfrm>
          <a:prstGeom prst="rect">
            <a:avLst/>
          </a:prstGeom>
          <a:noFill/>
        </p:spPr>
        <p:txBody>
          <a:bodyPr wrap="square">
            <a:spAutoFit/>
          </a:bodyPr>
          <a:lstStyle/>
          <a:p>
            <a:r>
              <a:rPr b="1" dirty="0">
                <a:solidFill>
                  <a:schemeClr val="tx2">
                    <a:lumMod val="75000"/>
                  </a:schemeClr>
                </a:solidFill>
                <a:latin typeface="Times New Roman" panose="02020603050405020304" pitchFamily="18" charset="0"/>
                <a:cs typeface="Times New Roman" panose="02020603050405020304" pitchFamily="18" charset="0"/>
              </a:rPr>
              <a:t>Step 2 — Missing Values</a:t>
            </a:r>
          </a:p>
          <a:p>
            <a:r>
              <a:rPr dirty="0">
                <a:latin typeface="Times New Roman" panose="02020603050405020304" pitchFamily="18" charset="0"/>
                <a:cs typeface="Times New Roman" panose="02020603050405020304" pitchFamily="18" charset="0"/>
              </a:rPr>
              <a:t>Missing values were identified and handled using suitable filling methods</a:t>
            </a:r>
            <a:r>
              <a:rPr dirty="0"/>
              <a:t>.</a:t>
            </a:r>
          </a:p>
        </p:txBody>
      </p:sp>
      <p:sp>
        <p:nvSpPr>
          <p:cNvPr id="9" name="Rounded Rectangle 8"/>
          <p:cNvSpPr/>
          <p:nvPr/>
        </p:nvSpPr>
        <p:spPr>
          <a:xfrm>
            <a:off x="7269480" y="4182154"/>
            <a:ext cx="4160520" cy="960120"/>
          </a:xfrm>
          <a:prstGeom prst="roundRect">
            <a:avLst/>
          </a:prstGeom>
          <a:solidFill>
            <a:srgbClr val="F2F5F9"/>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434072" y="4251179"/>
            <a:ext cx="3831335" cy="923330"/>
          </a:xfrm>
          <a:prstGeom prst="rect">
            <a:avLst/>
          </a:prstGeom>
          <a:noFill/>
        </p:spPr>
        <p:txBody>
          <a:bodyPr wrap="square">
            <a:spAutoFit/>
          </a:bodyPr>
          <a:lstStyle/>
          <a:p>
            <a:r>
              <a:rPr b="1" dirty="0">
                <a:solidFill>
                  <a:schemeClr val="tx2">
                    <a:lumMod val="75000"/>
                  </a:schemeClr>
                </a:solidFill>
              </a:rPr>
              <a:t>Step 3 — Fi</a:t>
            </a:r>
            <a:r>
              <a:rPr b="1" dirty="0">
                <a:solidFill>
                  <a:schemeClr val="tx2">
                    <a:lumMod val="75000"/>
                  </a:schemeClr>
                </a:solidFill>
                <a:latin typeface="Times New Roman" panose="02020603050405020304" pitchFamily="18" charset="0"/>
                <a:cs typeface="Times New Roman" panose="02020603050405020304" pitchFamily="18" charset="0"/>
              </a:rPr>
              <a:t>nal Check</a:t>
            </a:r>
          </a:p>
          <a:p>
            <a:r>
              <a:rPr dirty="0">
                <a:latin typeface="Times New Roman" panose="02020603050405020304" pitchFamily="18" charset="0"/>
                <a:cs typeface="Times New Roman" panose="02020603050405020304" pitchFamily="18" charset="0"/>
              </a:rPr>
              <a:t>Re-checked null count, duplicate count and date formats after cleaning</a:t>
            </a:r>
            <a:r>
              <a:rPr dirty="0"/>
              <a:t>.</a:t>
            </a:r>
          </a:p>
        </p:txBody>
      </p:sp>
      <p:sp>
        <p:nvSpPr>
          <p:cNvPr id="11" name="Rounded Rectangle 10"/>
          <p:cNvSpPr/>
          <p:nvPr/>
        </p:nvSpPr>
        <p:spPr>
          <a:xfrm>
            <a:off x="7269480" y="5354652"/>
            <a:ext cx="4160520" cy="822960"/>
          </a:xfrm>
          <a:prstGeom prst="roundRect">
            <a:avLst/>
          </a:prstGeom>
          <a:solidFill>
            <a:srgbClr val="F2F5F9"/>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434072" y="5305692"/>
            <a:ext cx="3831335" cy="923330"/>
          </a:xfrm>
          <a:prstGeom prst="rect">
            <a:avLst/>
          </a:prstGeom>
          <a:noFill/>
        </p:spPr>
        <p:txBody>
          <a:bodyPr wrap="square">
            <a:spAutoFit/>
          </a:bodyPr>
          <a:lstStyle/>
          <a:p>
            <a:r>
              <a:rPr b="1" dirty="0">
                <a:solidFill>
                  <a:schemeClr val="tx2">
                    <a:lumMod val="75000"/>
                  </a:schemeClr>
                </a:solidFill>
                <a:latin typeface="Times New Roman" panose="02020603050405020304" pitchFamily="18" charset="0"/>
                <a:cs typeface="Times New Roman" panose="02020603050405020304" pitchFamily="18" charset="0"/>
              </a:rPr>
              <a:t>Result</a:t>
            </a:r>
          </a:p>
          <a:p>
            <a:r>
              <a:rPr dirty="0">
                <a:latin typeface="Times New Roman" panose="02020603050405020304" pitchFamily="18" charset="0"/>
                <a:cs typeface="Times New Roman" panose="02020603050405020304" pitchFamily="18" charset="0"/>
              </a:rPr>
              <a:t>Clean library dataset prepared for exploratory analysis and visualization.</a:t>
            </a:r>
          </a:p>
        </p:txBody>
      </p:sp>
      <p:pic>
        <p:nvPicPr>
          <p:cNvPr id="14" name="object 3">
            <a:extLst>
              <a:ext uri="{FF2B5EF4-FFF2-40B4-BE49-F238E27FC236}">
                <a16:creationId xmlns:a16="http://schemas.microsoft.com/office/drawing/2014/main" id="{77268E3B-BE5D-C03B-255E-00857DA182AD}"/>
              </a:ext>
            </a:extLst>
          </p:cNvPr>
          <p:cNvPicPr/>
          <p:nvPr/>
        </p:nvPicPr>
        <p:blipFill>
          <a:blip r:embed="rId3" cstate="print"/>
          <a:stretch>
            <a:fillRect/>
          </a:stretch>
        </p:blipFill>
        <p:spPr>
          <a:xfrm>
            <a:off x="290749" y="204310"/>
            <a:ext cx="1488889" cy="594359"/>
          </a:xfrm>
          <a:prstGeom prst="rect">
            <a:avLst/>
          </a:prstGeom>
        </p:spPr>
      </p:pic>
      <p:pic>
        <p:nvPicPr>
          <p:cNvPr id="15" name="Picture 14" descr="slide5_cleaning.png"/>
          <p:cNvPicPr>
            <a:picLocks noChangeAspect="1"/>
          </p:cNvPicPr>
          <p:nvPr/>
        </p:nvPicPr>
        <p:blipFill>
          <a:blip r:embed="rId4"/>
          <a:stretch>
            <a:fillRect/>
          </a:stretch>
        </p:blipFill>
        <p:spPr>
          <a:xfrm>
            <a:off x="594360" y="1922700"/>
            <a:ext cx="6400800" cy="448056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594360" y="813367"/>
            <a:ext cx="10972800" cy="594360"/>
          </a:xfrm>
          <a:prstGeom prst="rect">
            <a:avLst/>
          </a:prstGeom>
          <a:noFill/>
        </p:spPr>
        <p:txBody>
          <a:bodyPr wrap="none">
            <a:spAutoFit/>
          </a:bodyPr>
          <a:lstStyle/>
          <a:p>
            <a:pPr>
              <a:defRPr sz="2600" b="1">
                <a:solidFill>
                  <a:srgbClr val="1F3756"/>
                </a:solidFill>
              </a:defRPr>
            </a:pPr>
            <a:r>
              <a:rPr dirty="0"/>
              <a:t>DATA ANALYSIS — EXPLORATORY RESULTS</a:t>
            </a:r>
          </a:p>
        </p:txBody>
      </p:sp>
      <p:sp>
        <p:nvSpPr>
          <p:cNvPr id="6" name="Rounded Rectangle 5"/>
          <p:cNvSpPr/>
          <p:nvPr/>
        </p:nvSpPr>
        <p:spPr>
          <a:xfrm>
            <a:off x="6366879" y="1415847"/>
            <a:ext cx="5074920" cy="1591350"/>
          </a:xfrm>
          <a:prstGeom prst="roundRect">
            <a:avLst/>
          </a:prstGeom>
          <a:solidFill>
            <a:srgbClr val="F2F5F9"/>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649458" y="1536489"/>
            <a:ext cx="4745736" cy="1200329"/>
          </a:xfrm>
          <a:prstGeom prst="rect">
            <a:avLst/>
          </a:prstGeom>
          <a:noFill/>
        </p:spPr>
        <p:txBody>
          <a:bodyPr wrap="square">
            <a:spAutoFit/>
          </a:bodyPr>
          <a:lstStyle/>
          <a:p>
            <a:r>
              <a:rPr b="1" dirty="0">
                <a:solidFill>
                  <a:schemeClr val="tx2">
                    <a:lumMod val="75000"/>
                  </a:schemeClr>
                </a:solidFill>
                <a:latin typeface="Times New Roman" panose="02020603050405020304" pitchFamily="18" charset="0"/>
                <a:cs typeface="Times New Roman" panose="02020603050405020304" pitchFamily="18" charset="0"/>
              </a:rPr>
              <a:t>Interpretation</a:t>
            </a:r>
          </a:p>
          <a:p>
            <a:r>
              <a:rPr dirty="0">
                <a:latin typeface="Times New Roman" panose="02020603050405020304" pitchFamily="18" charset="0"/>
                <a:cs typeface="Times New Roman" panose="02020603050405020304" pitchFamily="18" charset="0"/>
              </a:rPr>
              <a:t>Issue and return records are compared to understand how many books were issued, returned and still not returned.</a:t>
            </a:r>
          </a:p>
        </p:txBody>
      </p:sp>
      <p:sp>
        <p:nvSpPr>
          <p:cNvPr id="8" name="Rounded Rectangle 7"/>
          <p:cNvSpPr/>
          <p:nvPr/>
        </p:nvSpPr>
        <p:spPr>
          <a:xfrm>
            <a:off x="6446520" y="3414245"/>
            <a:ext cx="5074920" cy="1408478"/>
          </a:xfrm>
          <a:prstGeom prst="roundRect">
            <a:avLst/>
          </a:prstGeom>
          <a:solidFill>
            <a:srgbClr val="F2F5F9"/>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611112" y="3424278"/>
            <a:ext cx="4745736" cy="923330"/>
          </a:xfrm>
          <a:prstGeom prst="rect">
            <a:avLst/>
          </a:prstGeom>
          <a:noFill/>
        </p:spPr>
        <p:txBody>
          <a:bodyPr wrap="square">
            <a:spAutoFit/>
          </a:bodyPr>
          <a:lstStyle/>
          <a:p>
            <a:r>
              <a:rPr dirty="0">
                <a:latin typeface="Times New Roman" panose="02020603050405020304" pitchFamily="18" charset="0"/>
                <a:cs typeface="Times New Roman" panose="02020603050405020304" pitchFamily="18" charset="0"/>
              </a:rPr>
              <a:t>Borrowing frequency is analyzed to identify the most borrowed books and understand overall library usage.</a:t>
            </a:r>
          </a:p>
        </p:txBody>
      </p:sp>
      <p:pic>
        <p:nvPicPr>
          <p:cNvPr id="11" name="object 3">
            <a:extLst>
              <a:ext uri="{FF2B5EF4-FFF2-40B4-BE49-F238E27FC236}">
                <a16:creationId xmlns:a16="http://schemas.microsoft.com/office/drawing/2014/main" id="{E4A859EE-741D-B4F6-E043-811D2DE69FF7}"/>
              </a:ext>
            </a:extLst>
          </p:cNvPr>
          <p:cNvPicPr/>
          <p:nvPr/>
        </p:nvPicPr>
        <p:blipFill>
          <a:blip r:embed="rId2" cstate="print"/>
          <a:stretch>
            <a:fillRect/>
          </a:stretch>
        </p:blipFill>
        <p:spPr>
          <a:xfrm>
            <a:off x="290750" y="204310"/>
            <a:ext cx="1361070" cy="499189"/>
          </a:xfrm>
          <a:prstGeom prst="rect">
            <a:avLst/>
          </a:prstGeom>
        </p:spPr>
      </p:pic>
      <p:pic>
        <p:nvPicPr>
          <p:cNvPr id="12" name="Picture 11" descr="slide6_analysis.png"/>
          <p:cNvPicPr>
            <a:picLocks noChangeAspect="1"/>
          </p:cNvPicPr>
          <p:nvPr/>
        </p:nvPicPr>
        <p:blipFill>
          <a:blip r:embed="rId3"/>
          <a:stretch>
            <a:fillRect/>
          </a:stretch>
        </p:blipFill>
        <p:spPr>
          <a:xfrm>
            <a:off x="750201" y="1728512"/>
            <a:ext cx="5394960" cy="451595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594360" y="633308"/>
            <a:ext cx="10972800" cy="594360"/>
          </a:xfrm>
          <a:prstGeom prst="rect">
            <a:avLst/>
          </a:prstGeom>
          <a:noFill/>
        </p:spPr>
        <p:txBody>
          <a:bodyPr wrap="none">
            <a:spAutoFit/>
          </a:bodyPr>
          <a:lstStyle/>
          <a:p>
            <a:pPr>
              <a:defRPr sz="2600" b="1">
                <a:solidFill>
                  <a:srgbClr val="1F3756"/>
                </a:solidFill>
              </a:defRPr>
            </a:pPr>
            <a:r>
              <a:rPr dirty="0"/>
              <a:t>DATA ANALYSIS — GROUP COMPARISONS</a:t>
            </a:r>
          </a:p>
        </p:txBody>
      </p:sp>
      <p:sp>
        <p:nvSpPr>
          <p:cNvPr id="6" name="Rounded Rectangle 5"/>
          <p:cNvSpPr/>
          <p:nvPr/>
        </p:nvSpPr>
        <p:spPr>
          <a:xfrm>
            <a:off x="6440621" y="1787013"/>
            <a:ext cx="5074920" cy="1442883"/>
          </a:xfrm>
          <a:prstGeom prst="roundRect">
            <a:avLst/>
          </a:prstGeom>
          <a:solidFill>
            <a:srgbClr val="F2F5F9"/>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634703" y="1919945"/>
            <a:ext cx="4745736" cy="1200329"/>
          </a:xfrm>
          <a:prstGeom prst="rect">
            <a:avLst/>
          </a:prstGeom>
          <a:noFill/>
        </p:spPr>
        <p:txBody>
          <a:bodyPr wrap="square">
            <a:spAutoFit/>
          </a:bodyPr>
          <a:lstStyle/>
          <a:p>
            <a:r>
              <a:rPr b="1" dirty="0">
                <a:solidFill>
                  <a:schemeClr val="tx2">
                    <a:lumMod val="75000"/>
                  </a:schemeClr>
                </a:solidFill>
                <a:latin typeface="Times New Roman" panose="02020603050405020304" pitchFamily="18" charset="0"/>
                <a:cs typeface="Times New Roman" panose="02020603050405020304" pitchFamily="18" charset="0"/>
              </a:rPr>
              <a:t>Student insight</a:t>
            </a:r>
          </a:p>
          <a:p>
            <a:r>
              <a:rPr dirty="0">
                <a:latin typeface="Times New Roman" panose="02020603050405020304" pitchFamily="18" charset="0"/>
                <a:cs typeface="Times New Roman" panose="02020603050405020304" pitchFamily="18" charset="0"/>
              </a:rPr>
              <a:t>Student-wise borrowing counts are compared to identify borrowing patterns and students with higher borrowing activity.</a:t>
            </a:r>
          </a:p>
        </p:txBody>
      </p:sp>
      <p:sp>
        <p:nvSpPr>
          <p:cNvPr id="8" name="Rounded Rectangle 7"/>
          <p:cNvSpPr/>
          <p:nvPr/>
        </p:nvSpPr>
        <p:spPr>
          <a:xfrm>
            <a:off x="6446520" y="3424089"/>
            <a:ext cx="5074920" cy="1324896"/>
          </a:xfrm>
          <a:prstGeom prst="roundRect">
            <a:avLst/>
          </a:prstGeom>
          <a:solidFill>
            <a:srgbClr val="F2F5F9"/>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611112" y="3468522"/>
            <a:ext cx="4745736" cy="1200329"/>
          </a:xfrm>
          <a:prstGeom prst="rect">
            <a:avLst/>
          </a:prstGeom>
          <a:noFill/>
        </p:spPr>
        <p:txBody>
          <a:bodyPr wrap="square">
            <a:spAutoFit/>
          </a:bodyPr>
          <a:lstStyle/>
          <a:p>
            <a:r>
              <a:rPr b="1" dirty="0">
                <a:solidFill>
                  <a:schemeClr val="tx2">
                    <a:lumMod val="75000"/>
                  </a:schemeClr>
                </a:solidFill>
                <a:latin typeface="Times New Roman" panose="02020603050405020304" pitchFamily="18" charset="0"/>
                <a:cs typeface="Times New Roman" panose="02020603050405020304" pitchFamily="18" charset="0"/>
              </a:rPr>
              <a:t>Category insight</a:t>
            </a:r>
          </a:p>
          <a:p>
            <a:r>
              <a:rPr dirty="0">
                <a:latin typeface="Times New Roman" panose="02020603050405020304" pitchFamily="18" charset="0"/>
                <a:cs typeface="Times New Roman" panose="02020603050405020304" pitchFamily="18" charset="0"/>
              </a:rPr>
              <a:t>Category-wise borrowing is compared to identify popular book categories and understand student interests.</a:t>
            </a:r>
          </a:p>
        </p:txBody>
      </p:sp>
      <p:pic>
        <p:nvPicPr>
          <p:cNvPr id="11" name="object 3">
            <a:extLst>
              <a:ext uri="{FF2B5EF4-FFF2-40B4-BE49-F238E27FC236}">
                <a16:creationId xmlns:a16="http://schemas.microsoft.com/office/drawing/2014/main" id="{58A981A5-25A8-7D42-1E91-60886E43B33C}"/>
              </a:ext>
            </a:extLst>
          </p:cNvPr>
          <p:cNvPicPr/>
          <p:nvPr/>
        </p:nvPicPr>
        <p:blipFill>
          <a:blip r:embed="rId2" cstate="print"/>
          <a:stretch>
            <a:fillRect/>
          </a:stretch>
        </p:blipFill>
        <p:spPr>
          <a:xfrm>
            <a:off x="172763" y="188975"/>
            <a:ext cx="1361070" cy="499189"/>
          </a:xfrm>
          <a:prstGeom prst="rect">
            <a:avLst/>
          </a:prstGeom>
        </p:spPr>
      </p:pic>
      <p:pic>
        <p:nvPicPr>
          <p:cNvPr id="12" name="Picture 11" descr="slide7_analysis.png"/>
          <p:cNvPicPr>
            <a:picLocks noChangeAspect="1"/>
          </p:cNvPicPr>
          <p:nvPr/>
        </p:nvPicPr>
        <p:blipFill>
          <a:blip r:embed="rId3"/>
          <a:stretch>
            <a:fillRect/>
          </a:stretch>
        </p:blipFill>
        <p:spPr>
          <a:xfrm>
            <a:off x="594360" y="1280160"/>
            <a:ext cx="5394960" cy="438912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594360" y="801820"/>
            <a:ext cx="6064481" cy="461665"/>
          </a:xfrm>
          <a:prstGeom prst="rect">
            <a:avLst/>
          </a:prstGeom>
          <a:noFill/>
        </p:spPr>
        <p:txBody>
          <a:bodyPr wrap="none">
            <a:spAutoFit/>
          </a:bodyPr>
          <a:lstStyle/>
          <a:p>
            <a:r>
              <a:rPr sz="2400" b="1" dirty="0">
                <a:solidFill>
                  <a:schemeClr val="tx2">
                    <a:lumMod val="75000"/>
                  </a:schemeClr>
                </a:solidFill>
              </a:rPr>
              <a:t>PROJECT IMPLEMENTATION — DATA ANALYSIS</a:t>
            </a:r>
          </a:p>
        </p:txBody>
      </p:sp>
      <p:sp>
        <p:nvSpPr>
          <p:cNvPr id="5" name="Rounded Rectangle 4"/>
          <p:cNvSpPr/>
          <p:nvPr/>
        </p:nvSpPr>
        <p:spPr>
          <a:xfrm>
            <a:off x="7406640" y="904730"/>
            <a:ext cx="3977639" cy="1338657"/>
          </a:xfrm>
          <a:prstGeom prst="roundRect">
            <a:avLst/>
          </a:prstGeom>
          <a:solidFill>
            <a:srgbClr val="F2F5F9"/>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571231" y="1003020"/>
            <a:ext cx="3648456" cy="1200329"/>
          </a:xfrm>
          <a:prstGeom prst="rect">
            <a:avLst/>
          </a:prstGeom>
          <a:noFill/>
        </p:spPr>
        <p:txBody>
          <a:bodyPr wrap="square">
            <a:spAutoFit/>
          </a:bodyPr>
          <a:lstStyle/>
          <a:p>
            <a:r>
              <a:rPr b="1" dirty="0">
                <a:solidFill>
                  <a:schemeClr val="tx2">
                    <a:lumMod val="75000"/>
                  </a:schemeClr>
                </a:solidFill>
                <a:latin typeface="Times New Roman" panose="02020603050405020304" pitchFamily="18" charset="0"/>
                <a:cs typeface="Times New Roman" panose="02020603050405020304" pitchFamily="18" charset="0"/>
              </a:rPr>
              <a:t>Analysis Modules</a:t>
            </a:r>
          </a:p>
          <a:p>
            <a:r>
              <a:rPr dirty="0">
                <a:latin typeface="Times New Roman" panose="02020603050405020304" pitchFamily="18" charset="0"/>
                <a:cs typeface="Times New Roman" panose="02020603050405020304" pitchFamily="18" charset="0"/>
              </a:rPr>
              <a:t>Issue &amp; return analysis; most borrowed books; student borrowing statistics; category-wise analysis.</a:t>
            </a:r>
          </a:p>
        </p:txBody>
      </p:sp>
      <p:sp>
        <p:nvSpPr>
          <p:cNvPr id="7" name="Rounded Rectangle 6"/>
          <p:cNvSpPr/>
          <p:nvPr/>
        </p:nvSpPr>
        <p:spPr>
          <a:xfrm>
            <a:off x="7406640" y="2435410"/>
            <a:ext cx="3977639" cy="1338657"/>
          </a:xfrm>
          <a:prstGeom prst="roundRect">
            <a:avLst/>
          </a:prstGeom>
          <a:solidFill>
            <a:srgbClr val="F2F5F9"/>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571231" y="2381296"/>
            <a:ext cx="3648456" cy="1477328"/>
          </a:xfrm>
          <a:prstGeom prst="rect">
            <a:avLst/>
          </a:prstGeom>
          <a:noFill/>
        </p:spPr>
        <p:txBody>
          <a:bodyPr wrap="square">
            <a:spAutoFit/>
          </a:bodyPr>
          <a:lstStyle/>
          <a:p>
            <a:r>
              <a:rPr b="1" dirty="0">
                <a:solidFill>
                  <a:schemeClr val="tx2">
                    <a:lumMod val="75000"/>
                  </a:schemeClr>
                </a:solidFill>
                <a:latin typeface="Times New Roman" panose="02020603050405020304" pitchFamily="18" charset="0"/>
                <a:cs typeface="Times New Roman" panose="02020603050405020304" pitchFamily="18" charset="0"/>
              </a:rPr>
              <a:t>Processing Pipeline</a:t>
            </a:r>
          </a:p>
          <a:p>
            <a:r>
              <a:rPr dirty="0">
                <a:latin typeface="Times New Roman" panose="02020603050405020304" pitchFamily="18" charset="0"/>
                <a:cs typeface="Times New Roman" panose="02020603050405020304" pitchFamily="18" charset="0"/>
              </a:rPr>
              <a:t>Load dataset → inspect data → clean records → convert dates → calculate borrowing statistics → generate visualizations.</a:t>
            </a:r>
          </a:p>
        </p:txBody>
      </p:sp>
      <p:sp>
        <p:nvSpPr>
          <p:cNvPr id="9" name="Rounded Rectangle 8"/>
          <p:cNvSpPr/>
          <p:nvPr/>
        </p:nvSpPr>
        <p:spPr>
          <a:xfrm>
            <a:off x="7406640" y="3972703"/>
            <a:ext cx="3977639" cy="1119696"/>
          </a:xfrm>
          <a:prstGeom prst="roundRect">
            <a:avLst/>
          </a:prstGeom>
          <a:solidFill>
            <a:srgbClr val="F2F5F9"/>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571231" y="3938486"/>
            <a:ext cx="3648456" cy="1200329"/>
          </a:xfrm>
          <a:prstGeom prst="rect">
            <a:avLst/>
          </a:prstGeom>
          <a:noFill/>
        </p:spPr>
        <p:txBody>
          <a:bodyPr wrap="square">
            <a:spAutoFit/>
          </a:bodyPr>
          <a:lstStyle/>
          <a:p>
            <a:r>
              <a:rPr b="1" dirty="0">
                <a:solidFill>
                  <a:schemeClr val="tx2">
                    <a:lumMod val="75000"/>
                  </a:schemeClr>
                </a:solidFill>
                <a:latin typeface="Times New Roman" panose="02020603050405020304" pitchFamily="18" charset="0"/>
                <a:cs typeface="Times New Roman" panose="02020603050405020304" pitchFamily="18" charset="0"/>
              </a:rPr>
              <a:t>Execution</a:t>
            </a:r>
          </a:p>
          <a:p>
            <a:r>
              <a:rPr dirty="0">
                <a:latin typeface="Times New Roman" panose="02020603050405020304" pitchFamily="18" charset="0"/>
                <a:cs typeface="Times New Roman" panose="02020603050405020304" pitchFamily="18" charset="0"/>
              </a:rPr>
              <a:t>Python and Pandas are used to process the cleaned library records and generate analysis outputs.</a:t>
            </a:r>
          </a:p>
        </p:txBody>
      </p:sp>
      <p:sp>
        <p:nvSpPr>
          <p:cNvPr id="11" name="Rounded Rectangle 10"/>
          <p:cNvSpPr/>
          <p:nvPr/>
        </p:nvSpPr>
        <p:spPr>
          <a:xfrm>
            <a:off x="7406640" y="5278945"/>
            <a:ext cx="3977639" cy="1431572"/>
          </a:xfrm>
          <a:prstGeom prst="roundRect">
            <a:avLst/>
          </a:prstGeom>
          <a:solidFill>
            <a:srgbClr val="F2F5F9"/>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571231" y="5288971"/>
            <a:ext cx="3648456" cy="1477328"/>
          </a:xfrm>
          <a:prstGeom prst="rect">
            <a:avLst/>
          </a:prstGeom>
          <a:noFill/>
        </p:spPr>
        <p:txBody>
          <a:bodyPr wrap="square">
            <a:spAutoFit/>
          </a:bodyPr>
          <a:lstStyle/>
          <a:p>
            <a:r>
              <a:rPr b="1" dirty="0">
                <a:solidFill>
                  <a:schemeClr val="tx2">
                    <a:lumMod val="75000"/>
                  </a:schemeClr>
                </a:solidFill>
                <a:latin typeface="Times New Roman" panose="02020603050405020304" pitchFamily="18" charset="0"/>
                <a:cs typeface="Times New Roman" panose="02020603050405020304" pitchFamily="18" charset="0"/>
              </a:rPr>
              <a:t>Output</a:t>
            </a:r>
          </a:p>
          <a:p>
            <a:r>
              <a:rPr dirty="0">
                <a:latin typeface="Times New Roman" panose="02020603050405020304" pitchFamily="18" charset="0"/>
                <a:cs typeface="Times New Roman" panose="02020603050405020304" pitchFamily="18" charset="0"/>
              </a:rPr>
              <a:t>Analysis tables and visualizations are generated for books, students, categories and monthly borrowing trends.</a:t>
            </a:r>
          </a:p>
        </p:txBody>
      </p:sp>
      <p:pic>
        <p:nvPicPr>
          <p:cNvPr id="14" name="object 3">
            <a:extLst>
              <a:ext uri="{FF2B5EF4-FFF2-40B4-BE49-F238E27FC236}">
                <a16:creationId xmlns:a16="http://schemas.microsoft.com/office/drawing/2014/main" id="{7905F141-1165-1D8F-38D5-D3DA5A82C156}"/>
              </a:ext>
            </a:extLst>
          </p:cNvPr>
          <p:cNvPicPr/>
          <p:nvPr/>
        </p:nvPicPr>
        <p:blipFill>
          <a:blip r:embed="rId2" cstate="print"/>
          <a:stretch>
            <a:fillRect/>
          </a:stretch>
        </p:blipFill>
        <p:spPr>
          <a:xfrm>
            <a:off x="290750" y="204310"/>
            <a:ext cx="1361070" cy="499189"/>
          </a:xfrm>
          <a:prstGeom prst="rect">
            <a:avLst/>
          </a:prstGeom>
        </p:spPr>
      </p:pic>
      <p:pic>
        <p:nvPicPr>
          <p:cNvPr id="15" name="Picture 14" descr="slide8_code.png"/>
          <p:cNvPicPr>
            <a:picLocks noChangeAspect="1"/>
          </p:cNvPicPr>
          <p:nvPr/>
        </p:nvPicPr>
        <p:blipFill>
          <a:blip r:embed="rId3"/>
          <a:stretch>
            <a:fillRect/>
          </a:stretch>
        </p:blipFill>
        <p:spPr>
          <a:xfrm>
            <a:off x="594360" y="1578568"/>
            <a:ext cx="6583680" cy="452628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2777121" y="227806"/>
            <a:ext cx="10972800" cy="594360"/>
          </a:xfrm>
          <a:prstGeom prst="rect">
            <a:avLst/>
          </a:prstGeom>
          <a:noFill/>
        </p:spPr>
        <p:txBody>
          <a:bodyPr wrap="none">
            <a:spAutoFit/>
          </a:bodyPr>
          <a:lstStyle/>
          <a:p>
            <a:pPr>
              <a:defRPr sz="2600" b="1">
                <a:solidFill>
                  <a:srgbClr val="1F3756"/>
                </a:solidFill>
              </a:defRPr>
            </a:pPr>
            <a:r>
              <a:rPr dirty="0"/>
              <a:t>VISUALIZATION &amp; INTERPRETATION</a:t>
            </a:r>
          </a:p>
        </p:txBody>
      </p:sp>
      <p:pic>
        <p:nvPicPr>
          <p:cNvPr id="17" name="Picture 16" descr="library_charts_combined.png"/>
          <p:cNvPicPr>
            <a:picLocks noChangeAspect="1"/>
          </p:cNvPicPr>
          <p:nvPr/>
        </p:nvPicPr>
        <p:blipFill>
          <a:blip r:embed="rId2"/>
          <a:stretch>
            <a:fillRect/>
          </a:stretch>
        </p:blipFill>
        <p:spPr>
          <a:xfrm>
            <a:off x="455722" y="703499"/>
            <a:ext cx="10698480" cy="3923798"/>
          </a:xfrm>
          <a:prstGeom prst="rect">
            <a:avLst/>
          </a:prstGeom>
        </p:spPr>
      </p:pic>
      <p:sp>
        <p:nvSpPr>
          <p:cNvPr id="13" name="TextBox 12">
            <a:extLst>
              <a:ext uri="{FF2B5EF4-FFF2-40B4-BE49-F238E27FC236}">
                <a16:creationId xmlns:a16="http://schemas.microsoft.com/office/drawing/2014/main" id="{384231D2-87C1-6C20-D38F-B61D8DC61137}"/>
              </a:ext>
            </a:extLst>
          </p:cNvPr>
          <p:cNvSpPr txBox="1"/>
          <p:nvPr/>
        </p:nvSpPr>
        <p:spPr>
          <a:xfrm>
            <a:off x="465456" y="4418314"/>
            <a:ext cx="10972799" cy="646331"/>
          </a:xfrm>
          <a:prstGeom prst="rect">
            <a:avLst/>
          </a:prstGeom>
          <a:noFill/>
        </p:spPr>
        <p:txBody>
          <a:bodyPr wrap="square">
            <a:spAutoFit/>
          </a:bodyPr>
          <a:lstStyle/>
          <a:p>
            <a:r>
              <a:rPr dirty="0">
                <a:latin typeface="Times New Roman" panose="02020603050405020304" pitchFamily="18" charset="0"/>
                <a:cs typeface="Times New Roman" panose="02020603050405020304" pitchFamily="18" charset="0"/>
              </a:rPr>
              <a:t>Popular Books —</a:t>
            </a:r>
            <a:r>
              <a:rPr lang="en-US" dirty="0">
                <a:latin typeface="Times New Roman" panose="02020603050405020304" pitchFamily="18" charset="0"/>
                <a:cs typeface="Times New Roman" panose="02020603050405020304" pitchFamily="18" charset="0"/>
              </a:rPr>
              <a:t> Bar Graph</a:t>
            </a:r>
          </a:p>
          <a:p>
            <a:r>
              <a:rPr lang="en-US" dirty="0">
                <a:latin typeface="Times New Roman" panose="02020603050405020304" pitchFamily="18" charset="0"/>
                <a:cs typeface="Times New Roman" panose="02020603050405020304" pitchFamily="18" charset="0"/>
              </a:rPr>
              <a:t>Shows the books borrowed most frequently and helps identify high-demand titles.</a:t>
            </a:r>
          </a:p>
        </p:txBody>
      </p:sp>
      <p:sp>
        <p:nvSpPr>
          <p:cNvPr id="19" name="TextBox 18">
            <a:extLst>
              <a:ext uri="{FF2B5EF4-FFF2-40B4-BE49-F238E27FC236}">
                <a16:creationId xmlns:a16="http://schemas.microsoft.com/office/drawing/2014/main" id="{0E6FC638-C9E3-D6ED-99B3-8F96BFF560D5}"/>
              </a:ext>
            </a:extLst>
          </p:cNvPr>
          <p:cNvSpPr txBox="1"/>
          <p:nvPr/>
        </p:nvSpPr>
        <p:spPr>
          <a:xfrm>
            <a:off x="455722" y="5062141"/>
            <a:ext cx="9484688" cy="646331"/>
          </a:xfrm>
          <a:prstGeom prst="rect">
            <a:avLst/>
          </a:prstGeom>
          <a:noFill/>
        </p:spPr>
        <p:txBody>
          <a:bodyPr wrap="square">
            <a:spAutoFit/>
          </a:bodyPr>
          <a:lstStyle/>
          <a:p>
            <a:r>
              <a:rPr dirty="0">
                <a:latin typeface="Times New Roman" panose="02020603050405020304" pitchFamily="18" charset="0"/>
                <a:cs typeface="Times New Roman" panose="02020603050405020304" pitchFamily="18" charset="0"/>
              </a:rPr>
              <a:t>Book Categories — Pie Chart</a:t>
            </a:r>
          </a:p>
          <a:p>
            <a:r>
              <a:rPr dirty="0">
                <a:latin typeface="Times New Roman" panose="02020603050405020304" pitchFamily="18" charset="0"/>
                <a:cs typeface="Times New Roman" panose="02020603050405020304" pitchFamily="18" charset="0"/>
              </a:rPr>
              <a:t>Shows the distribution of borrowing across book categories.</a:t>
            </a:r>
          </a:p>
        </p:txBody>
      </p:sp>
      <p:sp>
        <p:nvSpPr>
          <p:cNvPr id="21" name="TextBox 20">
            <a:extLst>
              <a:ext uri="{FF2B5EF4-FFF2-40B4-BE49-F238E27FC236}">
                <a16:creationId xmlns:a16="http://schemas.microsoft.com/office/drawing/2014/main" id="{B71ADD0D-005B-BD6E-CA4A-BA4E9A0FBF79}"/>
              </a:ext>
            </a:extLst>
          </p:cNvPr>
          <p:cNvSpPr txBox="1"/>
          <p:nvPr/>
        </p:nvSpPr>
        <p:spPr>
          <a:xfrm>
            <a:off x="455730" y="5686683"/>
            <a:ext cx="10488168" cy="646331"/>
          </a:xfrm>
          <a:prstGeom prst="rect">
            <a:avLst/>
          </a:prstGeom>
          <a:noFill/>
        </p:spPr>
        <p:txBody>
          <a:bodyPr wrap="square">
            <a:spAutoFit/>
          </a:bodyPr>
          <a:lstStyle/>
          <a:p>
            <a:r>
              <a:rPr dirty="0">
                <a:latin typeface="Times New Roman" panose="02020603050405020304" pitchFamily="18" charset="0"/>
                <a:cs typeface="Times New Roman" panose="02020603050405020304" pitchFamily="18" charset="0"/>
              </a:rPr>
              <a:t>Monthly Borrow Trend — Line Chart</a:t>
            </a:r>
          </a:p>
          <a:p>
            <a:r>
              <a:rPr dirty="0">
                <a:latin typeface="Times New Roman" panose="02020603050405020304" pitchFamily="18" charset="0"/>
                <a:cs typeface="Times New Roman" panose="02020603050405020304" pitchFamily="18" charset="0"/>
              </a:rPr>
              <a:t>Shows how borrowing activity changes over time based on </a:t>
            </a:r>
            <a:r>
              <a:rPr dirty="0" err="1">
                <a:latin typeface="Times New Roman" panose="02020603050405020304" pitchFamily="18" charset="0"/>
                <a:cs typeface="Times New Roman" panose="02020603050405020304" pitchFamily="18" charset="0"/>
              </a:rPr>
              <a:t>Issue_Date</a:t>
            </a:r>
            <a:r>
              <a:rPr dirty="0">
                <a:latin typeface="Times New Roman" panose="02020603050405020304" pitchFamily="18" charset="0"/>
                <a:cs typeface="Times New Roman" panose="02020603050405020304" pitchFamily="18" charset="0"/>
              </a:rPr>
              <a:t>.</a:t>
            </a:r>
          </a:p>
        </p:txBody>
      </p:sp>
      <p:sp>
        <p:nvSpPr>
          <p:cNvPr id="22" name="TextBox 21">
            <a:extLst>
              <a:ext uri="{FF2B5EF4-FFF2-40B4-BE49-F238E27FC236}">
                <a16:creationId xmlns:a16="http://schemas.microsoft.com/office/drawing/2014/main" id="{E1220423-1801-0F9E-2F4A-75A750FB49CB}"/>
              </a:ext>
            </a:extLst>
          </p:cNvPr>
          <p:cNvSpPr txBox="1"/>
          <p:nvPr/>
        </p:nvSpPr>
        <p:spPr>
          <a:xfrm>
            <a:off x="427703" y="5604387"/>
            <a:ext cx="646331" cy="369332"/>
          </a:xfrm>
          <a:prstGeom prst="rect">
            <a:avLst/>
          </a:prstGeom>
          <a:noFill/>
        </p:spPr>
        <p:txBody>
          <a:bodyPr wrap="none" rtlCol="0">
            <a:spAutoFit/>
          </a:bodyPr>
          <a:lstStyle/>
          <a:p>
            <a:r>
              <a:rPr lang="en-US" dirty="0"/>
              <a:t>	</a:t>
            </a:r>
          </a:p>
        </p:txBody>
      </p:sp>
      <p:pic>
        <p:nvPicPr>
          <p:cNvPr id="4" name="object 3">
            <a:extLst>
              <a:ext uri="{FF2B5EF4-FFF2-40B4-BE49-F238E27FC236}">
                <a16:creationId xmlns:a16="http://schemas.microsoft.com/office/drawing/2014/main" id="{59A18F38-6BE6-7C1A-C94B-B2CF2C847ED9}"/>
              </a:ext>
            </a:extLst>
          </p:cNvPr>
          <p:cNvPicPr/>
          <p:nvPr/>
        </p:nvPicPr>
        <p:blipFill>
          <a:blip r:embed="rId3" cstate="print"/>
          <a:stretch>
            <a:fillRect/>
          </a:stretch>
        </p:blipFill>
        <p:spPr>
          <a:xfrm>
            <a:off x="290750" y="204310"/>
            <a:ext cx="1361070" cy="49918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594360" y="929641"/>
            <a:ext cx="10972800" cy="594360"/>
          </a:xfrm>
          <a:prstGeom prst="rect">
            <a:avLst/>
          </a:prstGeom>
          <a:noFill/>
        </p:spPr>
        <p:txBody>
          <a:bodyPr wrap="none">
            <a:spAutoFit/>
          </a:bodyPr>
          <a:lstStyle/>
          <a:p>
            <a:pPr>
              <a:defRPr sz="2600" b="1">
                <a:solidFill>
                  <a:srgbClr val="1F3756"/>
                </a:solidFill>
              </a:defRPr>
            </a:pPr>
            <a:r>
              <a:rPr dirty="0"/>
              <a:t>RESULTS &amp; KEY INSIGHTS</a:t>
            </a:r>
          </a:p>
        </p:txBody>
      </p:sp>
      <p:sp>
        <p:nvSpPr>
          <p:cNvPr id="4" name="Rounded Rectangle 3"/>
          <p:cNvSpPr/>
          <p:nvPr/>
        </p:nvSpPr>
        <p:spPr>
          <a:xfrm>
            <a:off x="640080" y="1856232"/>
            <a:ext cx="3474720" cy="1457044"/>
          </a:xfrm>
          <a:prstGeom prst="roundRect">
            <a:avLst/>
          </a:prstGeom>
          <a:solidFill>
            <a:srgbClr val="F2F5F9"/>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04671" y="1973534"/>
            <a:ext cx="3145536" cy="1200329"/>
          </a:xfrm>
          <a:prstGeom prst="rect">
            <a:avLst/>
          </a:prstGeom>
          <a:noFill/>
        </p:spPr>
        <p:txBody>
          <a:bodyPr wrap="square">
            <a:spAutoFit/>
          </a:bodyPr>
          <a:lstStyle/>
          <a:p>
            <a:r>
              <a:rPr b="1" dirty="0">
                <a:solidFill>
                  <a:schemeClr val="tx2">
                    <a:lumMod val="75000"/>
                  </a:schemeClr>
                </a:solidFill>
                <a:latin typeface="Times New Roman" panose="02020603050405020304" pitchFamily="18" charset="0"/>
                <a:cs typeface="Times New Roman" panose="02020603050405020304" pitchFamily="18" charset="0"/>
              </a:rPr>
              <a:t>Finding 1</a:t>
            </a:r>
          </a:p>
          <a:p>
            <a:r>
              <a:rPr dirty="0">
                <a:latin typeface="Times New Roman" panose="02020603050405020304" pitchFamily="18" charset="0"/>
                <a:cs typeface="Times New Roman" panose="02020603050405020304" pitchFamily="18" charset="0"/>
              </a:rPr>
              <a:t>In the test dataset, 420 records are returned, 65 are currently issued and 15 are overdue.</a:t>
            </a:r>
          </a:p>
        </p:txBody>
      </p:sp>
      <p:sp>
        <p:nvSpPr>
          <p:cNvPr id="6" name="Rounded Rectangle 5"/>
          <p:cNvSpPr/>
          <p:nvPr/>
        </p:nvSpPr>
        <p:spPr>
          <a:xfrm>
            <a:off x="4343400" y="1899794"/>
            <a:ext cx="3474720" cy="1413482"/>
          </a:xfrm>
          <a:prstGeom prst="roundRect">
            <a:avLst/>
          </a:prstGeom>
          <a:solidFill>
            <a:srgbClr val="F2F5F9"/>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7" name="TextBox 6"/>
          <p:cNvSpPr txBox="1"/>
          <p:nvPr/>
        </p:nvSpPr>
        <p:spPr>
          <a:xfrm>
            <a:off x="4507992" y="1988283"/>
            <a:ext cx="3145536" cy="1200329"/>
          </a:xfrm>
          <a:prstGeom prst="rect">
            <a:avLst/>
          </a:prstGeom>
          <a:noFill/>
        </p:spPr>
        <p:txBody>
          <a:bodyPr wrap="square">
            <a:spAutoFit/>
          </a:bodyPr>
          <a:lstStyle/>
          <a:p>
            <a:r>
              <a:rPr b="1" dirty="0">
                <a:solidFill>
                  <a:schemeClr val="tx2">
                    <a:lumMod val="75000"/>
                  </a:schemeClr>
                </a:solidFill>
              </a:rPr>
              <a:t>Finding 2</a:t>
            </a:r>
          </a:p>
          <a:p>
            <a:r>
              <a:rPr dirty="0"/>
              <a:t>Python Basics is the most borrowed test title with 42 borrowing records.</a:t>
            </a:r>
          </a:p>
        </p:txBody>
      </p:sp>
      <p:sp>
        <p:nvSpPr>
          <p:cNvPr id="8" name="Rounded Rectangle 7"/>
          <p:cNvSpPr/>
          <p:nvPr/>
        </p:nvSpPr>
        <p:spPr>
          <a:xfrm>
            <a:off x="8046720" y="1856232"/>
            <a:ext cx="3474720" cy="1457044"/>
          </a:xfrm>
          <a:prstGeom prst="roundRect">
            <a:avLst/>
          </a:prstGeom>
          <a:solidFill>
            <a:srgbClr val="F2F5F9"/>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11312" y="1899794"/>
            <a:ext cx="3145536" cy="1477328"/>
          </a:xfrm>
          <a:prstGeom prst="rect">
            <a:avLst/>
          </a:prstGeom>
          <a:noFill/>
        </p:spPr>
        <p:txBody>
          <a:bodyPr wrap="square">
            <a:spAutoFit/>
          </a:bodyPr>
          <a:lstStyle/>
          <a:p>
            <a:r>
              <a:rPr b="1" dirty="0">
                <a:solidFill>
                  <a:schemeClr val="tx2">
                    <a:lumMod val="75000"/>
                  </a:schemeClr>
                </a:solidFill>
                <a:latin typeface="Times New Roman" panose="02020603050405020304" pitchFamily="18" charset="0"/>
                <a:cs typeface="Times New Roman" panose="02020603050405020304" pitchFamily="18" charset="0"/>
              </a:rPr>
              <a:t>Finding 3</a:t>
            </a:r>
          </a:p>
          <a:p>
            <a:r>
              <a:rPr dirty="0">
                <a:latin typeface="Times New Roman" panose="02020603050405020304" pitchFamily="18" charset="0"/>
                <a:cs typeface="Times New Roman" panose="02020603050405020304" pitchFamily="18" charset="0"/>
              </a:rPr>
              <a:t>Programming is the largest test category with 110 borrowing records; monthly borrowing varies across the year.</a:t>
            </a:r>
          </a:p>
        </p:txBody>
      </p:sp>
      <p:sp>
        <p:nvSpPr>
          <p:cNvPr id="10" name="Rounded Rectangle 9"/>
          <p:cNvSpPr/>
          <p:nvPr/>
        </p:nvSpPr>
        <p:spPr>
          <a:xfrm>
            <a:off x="640080" y="3544724"/>
            <a:ext cx="3474720" cy="1277999"/>
          </a:xfrm>
          <a:prstGeom prst="roundRect">
            <a:avLst/>
          </a:prstGeom>
          <a:solidFill>
            <a:srgbClr val="F2F5F9"/>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04671" y="3628300"/>
            <a:ext cx="3145536" cy="646331"/>
          </a:xfrm>
          <a:prstGeom prst="rect">
            <a:avLst/>
          </a:prstGeom>
          <a:noFill/>
        </p:spPr>
        <p:txBody>
          <a:bodyPr wrap="square">
            <a:spAutoFit/>
          </a:bodyPr>
          <a:lstStyle/>
          <a:p>
            <a:r>
              <a:rPr b="1" dirty="0">
                <a:solidFill>
                  <a:schemeClr val="tx2">
                    <a:lumMod val="75000"/>
                  </a:schemeClr>
                </a:solidFill>
                <a:latin typeface="Times New Roman" panose="02020603050405020304" pitchFamily="18" charset="0"/>
                <a:cs typeface="Times New Roman" panose="02020603050405020304" pitchFamily="18" charset="0"/>
              </a:rPr>
              <a:t>Analysis Output</a:t>
            </a:r>
          </a:p>
          <a:p>
            <a:r>
              <a:rPr dirty="0">
                <a:latin typeface="Times New Roman" panose="02020603050405020304" pitchFamily="18" charset="0"/>
                <a:cs typeface="Times New Roman" panose="02020603050405020304" pitchFamily="18" charset="0"/>
              </a:rPr>
              <a:t>Most borrowed books</a:t>
            </a:r>
          </a:p>
        </p:txBody>
      </p:sp>
      <p:sp>
        <p:nvSpPr>
          <p:cNvPr id="12" name="Rounded Rectangle 11"/>
          <p:cNvSpPr/>
          <p:nvPr/>
        </p:nvSpPr>
        <p:spPr>
          <a:xfrm>
            <a:off x="4343400" y="3532045"/>
            <a:ext cx="3474720" cy="1290677"/>
          </a:xfrm>
          <a:prstGeom prst="roundRect">
            <a:avLst/>
          </a:prstGeom>
          <a:solidFill>
            <a:srgbClr val="F2F5F9"/>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07992" y="3643048"/>
            <a:ext cx="3145536" cy="646331"/>
          </a:xfrm>
          <a:prstGeom prst="rect">
            <a:avLst/>
          </a:prstGeom>
          <a:noFill/>
        </p:spPr>
        <p:txBody>
          <a:bodyPr wrap="square">
            <a:spAutoFit/>
          </a:bodyPr>
          <a:lstStyle/>
          <a:p>
            <a:r>
              <a:rPr b="1" dirty="0">
                <a:solidFill>
                  <a:schemeClr val="tx2">
                    <a:lumMod val="75000"/>
                  </a:schemeClr>
                </a:solidFill>
                <a:latin typeface="Times New Roman" panose="02020603050405020304" pitchFamily="18" charset="0"/>
                <a:cs typeface="Times New Roman" panose="02020603050405020304" pitchFamily="18" charset="0"/>
              </a:rPr>
              <a:t>Analysis Output</a:t>
            </a:r>
          </a:p>
          <a:p>
            <a:r>
              <a:rPr dirty="0">
                <a:latin typeface="Times New Roman" panose="02020603050405020304" pitchFamily="18" charset="0"/>
                <a:cs typeface="Times New Roman" panose="02020603050405020304" pitchFamily="18" charset="0"/>
              </a:rPr>
              <a:t>Student borrowing statistics</a:t>
            </a:r>
          </a:p>
        </p:txBody>
      </p:sp>
      <p:sp>
        <p:nvSpPr>
          <p:cNvPr id="14" name="Rounded Rectangle 13"/>
          <p:cNvSpPr/>
          <p:nvPr/>
        </p:nvSpPr>
        <p:spPr>
          <a:xfrm>
            <a:off x="8046720" y="3532045"/>
            <a:ext cx="3474720" cy="1290678"/>
          </a:xfrm>
          <a:prstGeom prst="roundRect">
            <a:avLst/>
          </a:prstGeom>
          <a:solidFill>
            <a:srgbClr val="F2F5F9"/>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211312" y="3569308"/>
            <a:ext cx="3145536" cy="923330"/>
          </a:xfrm>
          <a:prstGeom prst="rect">
            <a:avLst/>
          </a:prstGeom>
          <a:noFill/>
        </p:spPr>
        <p:txBody>
          <a:bodyPr wrap="square">
            <a:spAutoFit/>
          </a:bodyPr>
          <a:lstStyle/>
          <a:p>
            <a:r>
              <a:rPr b="1" dirty="0">
                <a:solidFill>
                  <a:schemeClr val="tx2">
                    <a:lumMod val="75000"/>
                  </a:schemeClr>
                </a:solidFill>
                <a:latin typeface="Times New Roman" panose="02020603050405020304" pitchFamily="18" charset="0"/>
                <a:cs typeface="Times New Roman" panose="02020603050405020304" pitchFamily="18" charset="0"/>
              </a:rPr>
              <a:t>Analysis Output</a:t>
            </a:r>
          </a:p>
          <a:p>
            <a:r>
              <a:rPr dirty="0">
                <a:latin typeface="Times New Roman" panose="02020603050405020304" pitchFamily="18" charset="0"/>
                <a:cs typeface="Times New Roman" panose="02020603050405020304" pitchFamily="18" charset="0"/>
              </a:rPr>
              <a:t>Category-wise and monthly borrowing trends</a:t>
            </a:r>
          </a:p>
        </p:txBody>
      </p:sp>
      <p:sp>
        <p:nvSpPr>
          <p:cNvPr id="16" name="TextBox 15"/>
          <p:cNvSpPr txBox="1"/>
          <p:nvPr/>
        </p:nvSpPr>
        <p:spPr>
          <a:xfrm>
            <a:off x="822960" y="5041492"/>
            <a:ext cx="10515600" cy="923330"/>
          </a:xfrm>
          <a:prstGeom prst="rect">
            <a:avLst/>
          </a:prstGeom>
          <a:noFill/>
        </p:spPr>
        <p:txBody>
          <a:bodyPr wrap="square">
            <a:spAutoFit/>
          </a:bodyPr>
          <a:lstStyle/>
          <a:p>
            <a:r>
              <a:rPr dirty="0">
                <a:latin typeface="Times New Roman" panose="02020603050405020304" pitchFamily="18" charset="0"/>
                <a:cs typeface="Times New Roman" panose="02020603050405020304" pitchFamily="18" charset="0"/>
              </a:rPr>
              <a:t>The completed pipeline moves from raw library records → cleaning → preprocessing → EDA → analysis → visualization → insights. The results are based on the cleaned dataset and are used to understand library usage patterns and support future book recommendations.</a:t>
            </a:r>
          </a:p>
        </p:txBody>
      </p:sp>
      <p:pic>
        <p:nvPicPr>
          <p:cNvPr id="18" name="object 3">
            <a:extLst>
              <a:ext uri="{FF2B5EF4-FFF2-40B4-BE49-F238E27FC236}">
                <a16:creationId xmlns:a16="http://schemas.microsoft.com/office/drawing/2014/main" id="{F4AA93A8-D673-58E0-DDB9-7D2B1AFA0082}"/>
              </a:ext>
            </a:extLst>
          </p:cNvPr>
          <p:cNvPicPr/>
          <p:nvPr/>
        </p:nvPicPr>
        <p:blipFill>
          <a:blip r:embed="rId2" cstate="print"/>
          <a:stretch>
            <a:fillRect/>
          </a:stretch>
        </p:blipFill>
        <p:spPr>
          <a:xfrm>
            <a:off x="290750" y="204310"/>
            <a:ext cx="1361070" cy="49918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594360" y="1185280"/>
            <a:ext cx="10972800" cy="594360"/>
          </a:xfrm>
          <a:prstGeom prst="rect">
            <a:avLst/>
          </a:prstGeom>
          <a:noFill/>
        </p:spPr>
        <p:txBody>
          <a:bodyPr wrap="none">
            <a:spAutoFit/>
          </a:bodyPr>
          <a:lstStyle/>
          <a:p>
            <a:pPr>
              <a:defRPr sz="2600" b="1">
                <a:solidFill>
                  <a:srgbClr val="1F3756"/>
                </a:solidFill>
              </a:defRPr>
            </a:pPr>
            <a:r>
              <a:t>PROJECT REPORT &amp; PRESENTATION EVIDENCE</a:t>
            </a:r>
          </a:p>
        </p:txBody>
      </p:sp>
      <p:sp>
        <p:nvSpPr>
          <p:cNvPr id="4" name="Rounded Rectangle 3"/>
          <p:cNvSpPr/>
          <p:nvPr/>
        </p:nvSpPr>
        <p:spPr>
          <a:xfrm>
            <a:off x="640080" y="2273220"/>
            <a:ext cx="5212080" cy="1143000"/>
          </a:xfrm>
          <a:prstGeom prst="roundRect">
            <a:avLst/>
          </a:prstGeom>
          <a:solidFill>
            <a:srgbClr val="F2F5F9"/>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04671" y="2298000"/>
            <a:ext cx="4882896" cy="1200329"/>
          </a:xfrm>
          <a:prstGeom prst="rect">
            <a:avLst/>
          </a:prstGeom>
          <a:noFill/>
        </p:spPr>
        <p:txBody>
          <a:bodyPr wrap="square">
            <a:spAutoFit/>
          </a:bodyPr>
          <a:lstStyle/>
          <a:p>
            <a:r>
              <a:rPr b="1" dirty="0">
                <a:solidFill>
                  <a:schemeClr val="tx2">
                    <a:lumMod val="75000"/>
                  </a:schemeClr>
                </a:solidFill>
                <a:latin typeface="Times New Roman" panose="02020603050405020304" pitchFamily="18" charset="0"/>
                <a:cs typeface="Times New Roman" panose="02020603050405020304" pitchFamily="18" charset="0"/>
              </a:rPr>
              <a:t>Report contents completed</a:t>
            </a:r>
          </a:p>
          <a:p>
            <a:r>
              <a:rPr dirty="0">
                <a:latin typeface="Times New Roman" panose="02020603050405020304" pitchFamily="18" charset="0"/>
                <a:cs typeface="Times New Roman" panose="02020603050405020304" pitchFamily="18" charset="0"/>
              </a:rPr>
              <a:t>Problem statement • Dataset description • Preprocessing • EDA • Analysis • Visualizations • Results • Conclusion</a:t>
            </a:r>
          </a:p>
        </p:txBody>
      </p:sp>
      <p:sp>
        <p:nvSpPr>
          <p:cNvPr id="6" name="Rounded Rectangle 5"/>
          <p:cNvSpPr/>
          <p:nvPr/>
        </p:nvSpPr>
        <p:spPr>
          <a:xfrm>
            <a:off x="640080" y="3690540"/>
            <a:ext cx="5212080" cy="1143000"/>
          </a:xfrm>
          <a:prstGeom prst="roundRect">
            <a:avLst/>
          </a:prstGeom>
          <a:solidFill>
            <a:srgbClr val="F2F5F9"/>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04671" y="3818556"/>
            <a:ext cx="4882896" cy="923330"/>
          </a:xfrm>
          <a:prstGeom prst="rect">
            <a:avLst/>
          </a:prstGeom>
          <a:noFill/>
        </p:spPr>
        <p:txBody>
          <a:bodyPr wrap="square">
            <a:spAutoFit/>
          </a:bodyPr>
          <a:lstStyle/>
          <a:p>
            <a:r>
              <a:rPr b="1" dirty="0">
                <a:solidFill>
                  <a:schemeClr val="tx2">
                    <a:lumMod val="75000"/>
                  </a:schemeClr>
                </a:solidFill>
                <a:latin typeface="Times New Roman" panose="02020603050405020304" pitchFamily="18" charset="0"/>
                <a:cs typeface="Times New Roman" panose="02020603050405020304" pitchFamily="18" charset="0"/>
              </a:rPr>
              <a:t>Notebook / Code</a:t>
            </a:r>
          </a:p>
          <a:p>
            <a:r>
              <a:rPr dirty="0">
                <a:latin typeface="Times New Roman" panose="02020603050405020304" pitchFamily="18" charset="0"/>
                <a:cs typeface="Times New Roman" panose="02020603050405020304" pitchFamily="18" charset="0"/>
              </a:rPr>
              <a:t>Working Python code organized into logical sections with outputs retained for review.</a:t>
            </a:r>
          </a:p>
        </p:txBody>
      </p:sp>
      <p:sp>
        <p:nvSpPr>
          <p:cNvPr id="8" name="Rounded Rectangle 7"/>
          <p:cNvSpPr/>
          <p:nvPr/>
        </p:nvSpPr>
        <p:spPr>
          <a:xfrm>
            <a:off x="640080" y="5107860"/>
            <a:ext cx="5212080" cy="1143000"/>
          </a:xfrm>
          <a:prstGeom prst="roundRect">
            <a:avLst/>
          </a:prstGeom>
          <a:solidFill>
            <a:srgbClr val="F2F5F9"/>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04671" y="5235876"/>
            <a:ext cx="4882896" cy="923330"/>
          </a:xfrm>
          <a:prstGeom prst="rect">
            <a:avLst/>
          </a:prstGeom>
          <a:noFill/>
        </p:spPr>
        <p:txBody>
          <a:bodyPr wrap="square">
            <a:spAutoFit/>
          </a:bodyPr>
          <a:lstStyle/>
          <a:p>
            <a:r>
              <a:rPr b="1" dirty="0">
                <a:solidFill>
                  <a:schemeClr val="tx2">
                    <a:lumMod val="75000"/>
                  </a:schemeClr>
                </a:solidFill>
                <a:latin typeface="Times New Roman" panose="02020603050405020304" pitchFamily="18" charset="0"/>
                <a:cs typeface="Times New Roman" panose="02020603050405020304" pitchFamily="18" charset="0"/>
              </a:rPr>
              <a:t>Presentation</a:t>
            </a:r>
          </a:p>
          <a:p>
            <a:r>
              <a:rPr dirty="0">
                <a:latin typeface="Times New Roman" panose="02020603050405020304" pitchFamily="18" charset="0"/>
                <a:cs typeface="Times New Roman" panose="02020603050405020304" pitchFamily="18" charset="0"/>
              </a:rPr>
              <a:t>Charts are labelled; each major visualization is accompanied by an interpretation.</a:t>
            </a:r>
          </a:p>
        </p:txBody>
      </p:sp>
      <p:sp>
        <p:nvSpPr>
          <p:cNvPr id="10" name="Rounded Rectangle 9"/>
          <p:cNvSpPr/>
          <p:nvPr/>
        </p:nvSpPr>
        <p:spPr>
          <a:xfrm>
            <a:off x="6172200" y="2273220"/>
            <a:ext cx="5212080" cy="1143000"/>
          </a:xfrm>
          <a:prstGeom prst="roundRect">
            <a:avLst/>
          </a:prstGeom>
          <a:solidFill>
            <a:srgbClr val="F2F5F9"/>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336792" y="2401236"/>
            <a:ext cx="4882896" cy="923330"/>
          </a:xfrm>
          <a:prstGeom prst="rect">
            <a:avLst/>
          </a:prstGeom>
          <a:noFill/>
        </p:spPr>
        <p:txBody>
          <a:bodyPr wrap="square">
            <a:spAutoFit/>
          </a:bodyPr>
          <a:lstStyle/>
          <a:p>
            <a:r>
              <a:rPr b="1" dirty="0">
                <a:solidFill>
                  <a:schemeClr val="tx2">
                    <a:lumMod val="75000"/>
                  </a:schemeClr>
                </a:solidFill>
                <a:latin typeface="Times New Roman" panose="02020603050405020304" pitchFamily="18" charset="0"/>
                <a:cs typeface="Times New Roman" panose="02020603050405020304" pitchFamily="18" charset="0"/>
              </a:rPr>
              <a:t>Evidence to show in viva</a:t>
            </a:r>
          </a:p>
          <a:p>
            <a:r>
              <a:rPr dirty="0">
                <a:latin typeface="Times New Roman" panose="02020603050405020304" pitchFamily="18" charset="0"/>
                <a:cs typeface="Times New Roman" panose="02020603050405020304" pitchFamily="18" charset="0"/>
              </a:rPr>
              <a:t>Notebook execution, cleaned dataset, analysis outputs, charts and result observations.</a:t>
            </a:r>
          </a:p>
        </p:txBody>
      </p:sp>
      <p:sp>
        <p:nvSpPr>
          <p:cNvPr id="12" name="Rounded Rectangle 11"/>
          <p:cNvSpPr/>
          <p:nvPr/>
        </p:nvSpPr>
        <p:spPr>
          <a:xfrm>
            <a:off x="6172200" y="3690540"/>
            <a:ext cx="5212080" cy="1143000"/>
          </a:xfrm>
          <a:prstGeom prst="roundRect">
            <a:avLst/>
          </a:prstGeom>
          <a:solidFill>
            <a:srgbClr val="F2F5F9"/>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336792" y="3818556"/>
            <a:ext cx="4882896" cy="923330"/>
          </a:xfrm>
          <a:prstGeom prst="rect">
            <a:avLst/>
          </a:prstGeom>
          <a:noFill/>
        </p:spPr>
        <p:txBody>
          <a:bodyPr wrap="square">
            <a:spAutoFit/>
          </a:bodyPr>
          <a:lstStyle/>
          <a:p>
            <a:r>
              <a:rPr b="1" dirty="0">
                <a:solidFill>
                  <a:schemeClr val="tx2">
                    <a:lumMod val="75000"/>
                  </a:schemeClr>
                </a:solidFill>
                <a:latin typeface="Times New Roman" panose="02020603050405020304" pitchFamily="18" charset="0"/>
                <a:cs typeface="Times New Roman" panose="02020603050405020304" pitchFamily="18" charset="0"/>
              </a:rPr>
              <a:t>Individual contribution</a:t>
            </a:r>
          </a:p>
          <a:p>
            <a:r>
              <a:rPr dirty="0">
                <a:latin typeface="Times New Roman" panose="02020603050405020304" pitchFamily="18" charset="0"/>
                <a:cs typeface="Times New Roman" panose="02020603050405020304" pitchFamily="18" charset="0"/>
              </a:rPr>
              <a:t>Each student should explain the part they implemented and justify their analysis choices.</a:t>
            </a:r>
          </a:p>
        </p:txBody>
      </p:sp>
      <p:sp>
        <p:nvSpPr>
          <p:cNvPr id="14" name="Rounded Rectangle 13"/>
          <p:cNvSpPr/>
          <p:nvPr/>
        </p:nvSpPr>
        <p:spPr>
          <a:xfrm>
            <a:off x="6172200" y="5107860"/>
            <a:ext cx="5212080" cy="1143000"/>
          </a:xfrm>
          <a:prstGeom prst="roundRect">
            <a:avLst/>
          </a:prstGeom>
          <a:solidFill>
            <a:srgbClr val="F2F5F9"/>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336792" y="5235876"/>
            <a:ext cx="4882896" cy="923330"/>
          </a:xfrm>
          <a:prstGeom prst="rect">
            <a:avLst/>
          </a:prstGeom>
          <a:noFill/>
        </p:spPr>
        <p:txBody>
          <a:bodyPr wrap="square">
            <a:spAutoFit/>
          </a:bodyPr>
          <a:lstStyle/>
          <a:p>
            <a:r>
              <a:rPr b="1" dirty="0">
                <a:solidFill>
                  <a:schemeClr val="tx2">
                    <a:lumMod val="75000"/>
                  </a:schemeClr>
                </a:solidFill>
                <a:latin typeface="Times New Roman" panose="02020603050405020304" pitchFamily="18" charset="0"/>
                <a:cs typeface="Times New Roman" panose="02020603050405020304" pitchFamily="18" charset="0"/>
              </a:rPr>
              <a:t>Important</a:t>
            </a:r>
          </a:p>
          <a:p>
            <a:r>
              <a:rPr dirty="0">
                <a:latin typeface="Times New Roman" panose="02020603050405020304" pitchFamily="18" charset="0"/>
                <a:cs typeface="Times New Roman" panose="02020603050405020304" pitchFamily="18" charset="0"/>
              </a:rPr>
              <a:t>Do not paste only screenshots. Students must be able to explain what the code and output mean.</a:t>
            </a:r>
          </a:p>
        </p:txBody>
      </p:sp>
      <p:pic>
        <p:nvPicPr>
          <p:cNvPr id="17" name="object 3">
            <a:extLst>
              <a:ext uri="{FF2B5EF4-FFF2-40B4-BE49-F238E27FC236}">
                <a16:creationId xmlns:a16="http://schemas.microsoft.com/office/drawing/2014/main" id="{F296BF2A-AB91-FEF6-2B55-F4902BFB9FAF}"/>
              </a:ext>
            </a:extLst>
          </p:cNvPr>
          <p:cNvPicPr/>
          <p:nvPr/>
        </p:nvPicPr>
        <p:blipFill>
          <a:blip r:embed="rId2" cstate="print"/>
          <a:stretch>
            <a:fillRect/>
          </a:stretch>
        </p:blipFill>
        <p:spPr>
          <a:xfrm>
            <a:off x="290750" y="204310"/>
            <a:ext cx="1361070" cy="49918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594360" y="1027964"/>
            <a:ext cx="10972800" cy="594360"/>
          </a:xfrm>
          <a:prstGeom prst="rect">
            <a:avLst/>
          </a:prstGeom>
          <a:noFill/>
        </p:spPr>
        <p:txBody>
          <a:bodyPr wrap="none">
            <a:spAutoFit/>
          </a:bodyPr>
          <a:lstStyle/>
          <a:p>
            <a:pPr>
              <a:defRPr sz="2600" b="1">
                <a:solidFill>
                  <a:srgbClr val="1F3756"/>
                </a:solidFill>
              </a:defRPr>
            </a:pPr>
            <a:r>
              <a:rPr dirty="0"/>
              <a:t>COMPLETED PROJECT WORKFLOW</a:t>
            </a:r>
          </a:p>
        </p:txBody>
      </p:sp>
      <p:sp>
        <p:nvSpPr>
          <p:cNvPr id="4" name="Rounded Rectangle 3"/>
          <p:cNvSpPr/>
          <p:nvPr/>
        </p:nvSpPr>
        <p:spPr>
          <a:xfrm>
            <a:off x="411480" y="3027847"/>
            <a:ext cx="1207008" cy="960120"/>
          </a:xfrm>
          <a:prstGeom prst="roundRect">
            <a:avLst/>
          </a:prstGeom>
          <a:solidFill>
            <a:srgbClr val="F2F5F9"/>
          </a:solidFill>
          <a:ln>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r>
              <a:rPr dirty="0">
                <a:solidFill>
                  <a:schemeClr val="tx1"/>
                </a:solidFill>
                <a:latin typeface="Times New Roman" panose="02020603050405020304" pitchFamily="18" charset="0"/>
                <a:cs typeface="Times New Roman" panose="02020603050405020304" pitchFamily="18" charset="0"/>
              </a:rPr>
              <a:t>Raw Dataset</a:t>
            </a:r>
          </a:p>
        </p:txBody>
      </p:sp>
      <p:sp>
        <p:nvSpPr>
          <p:cNvPr id="5" name="Chevron 4"/>
          <p:cNvSpPr/>
          <p:nvPr/>
        </p:nvSpPr>
        <p:spPr>
          <a:xfrm>
            <a:off x="1627632" y="3335205"/>
            <a:ext cx="64008" cy="365760"/>
          </a:xfrm>
          <a:prstGeom prst="chevron">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1709928" y="3027847"/>
            <a:ext cx="1207008" cy="960120"/>
          </a:xfrm>
          <a:prstGeom prst="roundRect">
            <a:avLst/>
          </a:prstGeom>
          <a:solidFill>
            <a:srgbClr val="F2F5F9"/>
          </a:solidFill>
          <a:ln>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r>
              <a:rPr dirty="0">
                <a:solidFill>
                  <a:schemeClr val="tx1"/>
                </a:solidFill>
                <a:latin typeface="Times New Roman" panose="02020603050405020304" pitchFamily="18" charset="0"/>
                <a:cs typeface="Times New Roman" panose="02020603050405020304" pitchFamily="18" charset="0"/>
              </a:rPr>
              <a:t>Data Inspection</a:t>
            </a:r>
          </a:p>
        </p:txBody>
      </p:sp>
      <p:sp>
        <p:nvSpPr>
          <p:cNvPr id="7" name="Chevron 6"/>
          <p:cNvSpPr/>
          <p:nvPr/>
        </p:nvSpPr>
        <p:spPr>
          <a:xfrm>
            <a:off x="2926080" y="3335205"/>
            <a:ext cx="64008" cy="365760"/>
          </a:xfrm>
          <a:prstGeom prst="chevron">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3008376" y="3027847"/>
            <a:ext cx="1207008" cy="960120"/>
          </a:xfrm>
          <a:prstGeom prst="roundRect">
            <a:avLst/>
          </a:prstGeom>
          <a:solidFill>
            <a:srgbClr val="F2F5F9"/>
          </a:solidFill>
          <a:ln>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r>
              <a:rPr>
                <a:solidFill>
                  <a:schemeClr val="tx1"/>
                </a:solidFill>
                <a:latin typeface="Times New Roman" panose="02020603050405020304" pitchFamily="18" charset="0"/>
                <a:cs typeface="Times New Roman" panose="02020603050405020304" pitchFamily="18" charset="0"/>
              </a:rPr>
              <a:t>Cleaning</a:t>
            </a:r>
          </a:p>
        </p:txBody>
      </p:sp>
      <p:sp>
        <p:nvSpPr>
          <p:cNvPr id="9" name="Chevron 8"/>
          <p:cNvSpPr/>
          <p:nvPr/>
        </p:nvSpPr>
        <p:spPr>
          <a:xfrm>
            <a:off x="4224528" y="3335205"/>
            <a:ext cx="64008" cy="365760"/>
          </a:xfrm>
          <a:prstGeom prst="chevron">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4306824" y="3027847"/>
            <a:ext cx="1207008" cy="960120"/>
          </a:xfrm>
          <a:prstGeom prst="roundRect">
            <a:avLst/>
          </a:prstGeom>
          <a:solidFill>
            <a:srgbClr val="F2F5F9"/>
          </a:solidFill>
          <a:ln>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r>
              <a:rPr>
                <a:solidFill>
                  <a:schemeClr val="tx1"/>
                </a:solidFill>
                <a:latin typeface="Times New Roman" panose="02020603050405020304" pitchFamily="18" charset="0"/>
                <a:cs typeface="Times New Roman" panose="02020603050405020304" pitchFamily="18" charset="0"/>
              </a:rPr>
              <a:t>Date Preprocessing</a:t>
            </a:r>
          </a:p>
        </p:txBody>
      </p:sp>
      <p:sp>
        <p:nvSpPr>
          <p:cNvPr id="11" name="Chevron 10"/>
          <p:cNvSpPr/>
          <p:nvPr/>
        </p:nvSpPr>
        <p:spPr>
          <a:xfrm>
            <a:off x="5522976" y="3364233"/>
            <a:ext cx="64008" cy="365760"/>
          </a:xfrm>
          <a:prstGeom prst="chevron">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5605272" y="3027847"/>
            <a:ext cx="1207008" cy="960120"/>
          </a:xfrm>
          <a:prstGeom prst="roundRect">
            <a:avLst/>
          </a:prstGeom>
          <a:solidFill>
            <a:srgbClr val="F2F5F9"/>
          </a:solidFill>
          <a:ln>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r>
              <a:rPr>
                <a:solidFill>
                  <a:schemeClr val="tx1"/>
                </a:solidFill>
                <a:latin typeface="Times New Roman" panose="02020603050405020304" pitchFamily="18" charset="0"/>
                <a:cs typeface="Times New Roman" panose="02020603050405020304" pitchFamily="18" charset="0"/>
              </a:rPr>
              <a:t>EDA</a:t>
            </a:r>
          </a:p>
        </p:txBody>
      </p:sp>
      <p:sp>
        <p:nvSpPr>
          <p:cNvPr id="13" name="Chevron 12"/>
          <p:cNvSpPr/>
          <p:nvPr/>
        </p:nvSpPr>
        <p:spPr>
          <a:xfrm>
            <a:off x="6821424" y="3335205"/>
            <a:ext cx="64008" cy="365760"/>
          </a:xfrm>
          <a:prstGeom prst="chevron">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6903720" y="3027847"/>
            <a:ext cx="1207008" cy="960120"/>
          </a:xfrm>
          <a:prstGeom prst="roundRect">
            <a:avLst/>
          </a:prstGeom>
          <a:solidFill>
            <a:srgbClr val="F2F5F9"/>
          </a:solidFill>
          <a:ln>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r>
              <a:rPr>
                <a:solidFill>
                  <a:schemeClr val="tx1"/>
                </a:solidFill>
                <a:latin typeface="Times New Roman" panose="02020603050405020304" pitchFamily="18" charset="0"/>
                <a:cs typeface="Times New Roman" panose="02020603050405020304" pitchFamily="18" charset="0"/>
              </a:rPr>
              <a:t>Data Analysis</a:t>
            </a:r>
          </a:p>
        </p:txBody>
      </p:sp>
      <p:sp>
        <p:nvSpPr>
          <p:cNvPr id="15" name="Chevron 14"/>
          <p:cNvSpPr/>
          <p:nvPr/>
        </p:nvSpPr>
        <p:spPr>
          <a:xfrm>
            <a:off x="8119872" y="3335205"/>
            <a:ext cx="64008" cy="365760"/>
          </a:xfrm>
          <a:prstGeom prst="chevron">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8202168" y="3027847"/>
            <a:ext cx="1207008" cy="960120"/>
          </a:xfrm>
          <a:prstGeom prst="roundRect">
            <a:avLst/>
          </a:prstGeom>
          <a:solidFill>
            <a:srgbClr val="F2F5F9"/>
          </a:solidFill>
          <a:ln>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r>
              <a:rPr>
                <a:solidFill>
                  <a:schemeClr val="tx1"/>
                </a:solidFill>
                <a:latin typeface="Times New Roman" panose="02020603050405020304" pitchFamily="18" charset="0"/>
                <a:cs typeface="Times New Roman" panose="02020603050405020304" pitchFamily="18" charset="0"/>
              </a:rPr>
              <a:t>Visualization</a:t>
            </a:r>
          </a:p>
        </p:txBody>
      </p:sp>
      <p:sp>
        <p:nvSpPr>
          <p:cNvPr id="17" name="Chevron 16"/>
          <p:cNvSpPr/>
          <p:nvPr/>
        </p:nvSpPr>
        <p:spPr>
          <a:xfrm>
            <a:off x="9418320" y="3335205"/>
            <a:ext cx="64008" cy="365760"/>
          </a:xfrm>
          <a:prstGeom prst="chevron">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9500616" y="3027847"/>
            <a:ext cx="1207008" cy="960120"/>
          </a:xfrm>
          <a:prstGeom prst="roundRect">
            <a:avLst/>
          </a:prstGeom>
          <a:solidFill>
            <a:srgbClr val="F2F5F9"/>
          </a:solidFill>
          <a:ln>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r>
              <a:rPr>
                <a:solidFill>
                  <a:schemeClr val="tx1"/>
                </a:solidFill>
                <a:latin typeface="Times New Roman" panose="02020603050405020304" pitchFamily="18" charset="0"/>
                <a:cs typeface="Times New Roman" panose="02020603050405020304" pitchFamily="18" charset="0"/>
              </a:rPr>
              <a:t>Results</a:t>
            </a:r>
          </a:p>
        </p:txBody>
      </p:sp>
      <p:sp>
        <p:nvSpPr>
          <p:cNvPr id="19" name="Chevron 18"/>
          <p:cNvSpPr/>
          <p:nvPr/>
        </p:nvSpPr>
        <p:spPr>
          <a:xfrm>
            <a:off x="10716768" y="3335205"/>
            <a:ext cx="64008" cy="365760"/>
          </a:xfrm>
          <a:prstGeom prst="chevron">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10799064" y="3027847"/>
            <a:ext cx="1207008" cy="960120"/>
          </a:xfrm>
          <a:prstGeom prst="roundRect">
            <a:avLst/>
          </a:prstGeom>
          <a:solidFill>
            <a:srgbClr val="F2F5F9"/>
          </a:solidFill>
          <a:ln>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r>
              <a:rPr>
                <a:solidFill>
                  <a:schemeClr val="tx1"/>
                </a:solidFill>
                <a:latin typeface="Times New Roman" panose="02020603050405020304" pitchFamily="18" charset="0"/>
                <a:cs typeface="Times New Roman" panose="02020603050405020304" pitchFamily="18" charset="0"/>
              </a:rPr>
              <a:t>Insights / Report</a:t>
            </a:r>
          </a:p>
        </p:txBody>
      </p:sp>
      <p:pic>
        <p:nvPicPr>
          <p:cNvPr id="23" name="object 3">
            <a:extLst>
              <a:ext uri="{FF2B5EF4-FFF2-40B4-BE49-F238E27FC236}">
                <a16:creationId xmlns:a16="http://schemas.microsoft.com/office/drawing/2014/main" id="{EA39A1F5-0C08-F3D7-C5D4-DBFF75188F50}"/>
              </a:ext>
            </a:extLst>
          </p:cNvPr>
          <p:cNvPicPr/>
          <p:nvPr/>
        </p:nvPicPr>
        <p:blipFill>
          <a:blip r:embed="rId2" cstate="print"/>
          <a:stretch>
            <a:fillRect/>
          </a:stretch>
        </p:blipFill>
        <p:spPr>
          <a:xfrm>
            <a:off x="290750" y="204310"/>
            <a:ext cx="1361070" cy="49918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594360" y="791983"/>
            <a:ext cx="9629367" cy="492443"/>
          </a:xfrm>
          <a:prstGeom prst="rect">
            <a:avLst/>
          </a:prstGeom>
          <a:noFill/>
        </p:spPr>
        <p:txBody>
          <a:bodyPr wrap="none">
            <a:spAutoFit/>
          </a:bodyPr>
          <a:lstStyle/>
          <a:p>
            <a:pPr>
              <a:defRPr sz="2600" b="1">
                <a:solidFill>
                  <a:srgbClr val="1F3756"/>
                </a:solidFill>
              </a:defRPr>
            </a:pPr>
            <a:r>
              <a:rPr dirty="0"/>
              <a:t>VIVA VO</a:t>
            </a:r>
            <a:r>
              <a:rPr lang="en-US" dirty="0"/>
              <a:t>I</a:t>
            </a:r>
            <a:r>
              <a:rPr dirty="0"/>
              <a:t>CE — WHAT EACH STUDENT SHOULD BE READY TO EXPLAIN</a:t>
            </a:r>
          </a:p>
        </p:txBody>
      </p:sp>
      <p:sp>
        <p:nvSpPr>
          <p:cNvPr id="4" name="Rounded Rectangle 3"/>
          <p:cNvSpPr/>
          <p:nvPr/>
        </p:nvSpPr>
        <p:spPr>
          <a:xfrm>
            <a:off x="649912" y="1514359"/>
            <a:ext cx="3474720" cy="1683085"/>
          </a:xfrm>
          <a:prstGeom prst="roundRect">
            <a:avLst/>
          </a:prstGeom>
          <a:solidFill>
            <a:srgbClr val="F2F5F9"/>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14503" y="1481924"/>
            <a:ext cx="3145536" cy="1754326"/>
          </a:xfrm>
          <a:prstGeom prst="rect">
            <a:avLst/>
          </a:prstGeom>
          <a:noFill/>
        </p:spPr>
        <p:txBody>
          <a:bodyPr wrap="square">
            <a:spAutoFit/>
          </a:bodyPr>
          <a:lstStyle/>
          <a:p>
            <a:r>
              <a:rPr b="1" dirty="0">
                <a:solidFill>
                  <a:schemeClr val="tx2">
                    <a:lumMod val="75000"/>
                  </a:schemeClr>
                </a:solidFill>
                <a:latin typeface="Times New Roman" panose="02020603050405020304" pitchFamily="18" charset="0"/>
                <a:cs typeface="Times New Roman" panose="02020603050405020304" pitchFamily="18" charset="0"/>
              </a:rPr>
              <a:t>Dataset</a:t>
            </a:r>
          </a:p>
          <a:p>
            <a:r>
              <a:rPr dirty="0">
                <a:latin typeface="Times New Roman" panose="02020603050405020304" pitchFamily="18" charset="0"/>
                <a:cs typeface="Times New Roman" panose="02020603050405020304" pitchFamily="18" charset="0"/>
              </a:rPr>
              <a:t>Why was this library dataset selected? What do Book Title, Category, Student_ID, </a:t>
            </a:r>
            <a:r>
              <a:rPr dirty="0" err="1">
                <a:latin typeface="Times New Roman" panose="02020603050405020304" pitchFamily="18" charset="0"/>
                <a:cs typeface="Times New Roman" panose="02020603050405020304" pitchFamily="18" charset="0"/>
              </a:rPr>
              <a:t>Issue_Date</a:t>
            </a:r>
            <a:r>
              <a:rPr dirty="0">
                <a:latin typeface="Times New Roman" panose="02020603050405020304" pitchFamily="18" charset="0"/>
                <a:cs typeface="Times New Roman" panose="02020603050405020304" pitchFamily="18" charset="0"/>
              </a:rPr>
              <a:t>, </a:t>
            </a:r>
            <a:r>
              <a:rPr dirty="0" err="1">
                <a:latin typeface="Times New Roman" panose="02020603050405020304" pitchFamily="18" charset="0"/>
                <a:cs typeface="Times New Roman" panose="02020603050405020304" pitchFamily="18" charset="0"/>
              </a:rPr>
              <a:t>Return_Date</a:t>
            </a:r>
            <a:r>
              <a:rPr dirty="0">
                <a:latin typeface="Times New Roman" panose="02020603050405020304" pitchFamily="18" charset="0"/>
                <a:cs typeface="Times New Roman" panose="02020603050405020304" pitchFamily="18" charset="0"/>
              </a:rPr>
              <a:t>, Status and Author represent?</a:t>
            </a:r>
          </a:p>
        </p:txBody>
      </p:sp>
      <p:sp>
        <p:nvSpPr>
          <p:cNvPr id="6" name="Rounded Rectangle 5"/>
          <p:cNvSpPr/>
          <p:nvPr/>
        </p:nvSpPr>
        <p:spPr>
          <a:xfrm>
            <a:off x="4353232" y="1514359"/>
            <a:ext cx="3474720" cy="1621443"/>
          </a:xfrm>
          <a:prstGeom prst="roundRect">
            <a:avLst/>
          </a:prstGeom>
          <a:solidFill>
            <a:srgbClr val="F2F5F9"/>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17824" y="1481921"/>
            <a:ext cx="3145536" cy="1754326"/>
          </a:xfrm>
          <a:prstGeom prst="rect">
            <a:avLst/>
          </a:prstGeom>
          <a:noFill/>
        </p:spPr>
        <p:txBody>
          <a:bodyPr wrap="square">
            <a:spAutoFit/>
          </a:bodyPr>
          <a:lstStyle/>
          <a:p>
            <a:r>
              <a:rPr b="1" dirty="0">
                <a:solidFill>
                  <a:schemeClr val="tx2">
                    <a:lumMod val="75000"/>
                  </a:schemeClr>
                </a:solidFill>
                <a:latin typeface="Times New Roman" panose="02020603050405020304" pitchFamily="18" charset="0"/>
                <a:cs typeface="Times New Roman" panose="02020603050405020304" pitchFamily="18" charset="0"/>
              </a:rPr>
              <a:t>Preprocessing</a:t>
            </a:r>
          </a:p>
          <a:p>
            <a:r>
              <a:rPr dirty="0">
                <a:latin typeface="Times New Roman" panose="02020603050405020304" pitchFamily="18" charset="0"/>
                <a:cs typeface="Times New Roman" panose="02020603050405020304" pitchFamily="18" charset="0"/>
              </a:rPr>
              <a:t>Why were missing values handled? Why were duplicate records removed? Why were dates converted into proper format?</a:t>
            </a:r>
          </a:p>
        </p:txBody>
      </p:sp>
      <p:sp>
        <p:nvSpPr>
          <p:cNvPr id="8" name="Rounded Rectangle 7"/>
          <p:cNvSpPr/>
          <p:nvPr/>
        </p:nvSpPr>
        <p:spPr>
          <a:xfrm>
            <a:off x="8056552" y="1597245"/>
            <a:ext cx="3474720" cy="1538557"/>
          </a:xfrm>
          <a:prstGeom prst="roundRect">
            <a:avLst/>
          </a:prstGeom>
          <a:solidFill>
            <a:srgbClr val="F2F5F9"/>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1144" y="1688397"/>
            <a:ext cx="3145536" cy="1200329"/>
          </a:xfrm>
          <a:prstGeom prst="rect">
            <a:avLst/>
          </a:prstGeom>
          <a:noFill/>
        </p:spPr>
        <p:txBody>
          <a:bodyPr wrap="square">
            <a:spAutoFit/>
          </a:bodyPr>
          <a:lstStyle/>
          <a:p>
            <a:r>
              <a:rPr b="1" dirty="0">
                <a:solidFill>
                  <a:schemeClr val="tx2">
                    <a:lumMod val="75000"/>
                  </a:schemeClr>
                </a:solidFill>
                <a:latin typeface="Times New Roman" panose="02020603050405020304" pitchFamily="18" charset="0"/>
                <a:cs typeface="Times New Roman" panose="02020603050405020304" pitchFamily="18" charset="0"/>
              </a:rPr>
              <a:t>EDA</a:t>
            </a:r>
          </a:p>
          <a:p>
            <a:r>
              <a:rPr dirty="0">
                <a:latin typeface="Times New Roman" panose="02020603050405020304" pitchFamily="18" charset="0"/>
                <a:cs typeface="Times New Roman" panose="02020603050405020304" pitchFamily="18" charset="0"/>
              </a:rPr>
              <a:t>What does each graph show? Why were bar, pie and line charts selected?</a:t>
            </a:r>
          </a:p>
        </p:txBody>
      </p:sp>
      <p:sp>
        <p:nvSpPr>
          <p:cNvPr id="10" name="Rounded Rectangle 9"/>
          <p:cNvSpPr/>
          <p:nvPr/>
        </p:nvSpPr>
        <p:spPr>
          <a:xfrm>
            <a:off x="649912" y="3391834"/>
            <a:ext cx="3474720" cy="1378968"/>
          </a:xfrm>
          <a:prstGeom prst="roundRect">
            <a:avLst/>
          </a:prstGeom>
          <a:solidFill>
            <a:srgbClr val="F2F5F9"/>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14503" y="3347590"/>
            <a:ext cx="3145536" cy="1477328"/>
          </a:xfrm>
          <a:prstGeom prst="rect">
            <a:avLst/>
          </a:prstGeom>
          <a:noFill/>
        </p:spPr>
        <p:txBody>
          <a:bodyPr wrap="square">
            <a:spAutoFit/>
          </a:bodyPr>
          <a:lstStyle/>
          <a:p>
            <a:r>
              <a:rPr b="1" dirty="0">
                <a:solidFill>
                  <a:schemeClr val="tx2">
                    <a:lumMod val="75000"/>
                  </a:schemeClr>
                </a:solidFill>
                <a:latin typeface="Times New Roman" panose="02020603050405020304" pitchFamily="18" charset="0"/>
                <a:cs typeface="Times New Roman" panose="02020603050405020304" pitchFamily="18" charset="0"/>
              </a:rPr>
              <a:t>Analysis</a:t>
            </a:r>
          </a:p>
          <a:p>
            <a:r>
              <a:rPr dirty="0">
                <a:latin typeface="Times New Roman" panose="02020603050405020304" pitchFamily="18" charset="0"/>
                <a:cs typeface="Times New Roman" panose="02020603050405020304" pitchFamily="18" charset="0"/>
              </a:rPr>
              <a:t>How are most borrowed books, student borrowing statistics and category-wise patterns calculated?</a:t>
            </a:r>
          </a:p>
        </p:txBody>
      </p:sp>
      <p:sp>
        <p:nvSpPr>
          <p:cNvPr id="12" name="Rounded Rectangle 11"/>
          <p:cNvSpPr/>
          <p:nvPr/>
        </p:nvSpPr>
        <p:spPr>
          <a:xfrm>
            <a:off x="4353232" y="3391834"/>
            <a:ext cx="3474720" cy="1378968"/>
          </a:xfrm>
          <a:prstGeom prst="roundRect">
            <a:avLst/>
          </a:prstGeom>
          <a:solidFill>
            <a:srgbClr val="F2F5F9"/>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17824" y="3391834"/>
            <a:ext cx="3145536" cy="1200329"/>
          </a:xfrm>
          <a:prstGeom prst="rect">
            <a:avLst/>
          </a:prstGeom>
          <a:noFill/>
        </p:spPr>
        <p:txBody>
          <a:bodyPr wrap="square">
            <a:spAutoFit/>
          </a:bodyPr>
          <a:lstStyle/>
          <a:p>
            <a:r>
              <a:rPr b="1" dirty="0">
                <a:solidFill>
                  <a:schemeClr val="tx2">
                    <a:lumMod val="75000"/>
                  </a:schemeClr>
                </a:solidFill>
                <a:latin typeface="Times New Roman" panose="02020603050405020304" pitchFamily="18" charset="0"/>
                <a:cs typeface="Times New Roman" panose="02020603050405020304" pitchFamily="18" charset="0"/>
              </a:rPr>
              <a:t>Results</a:t>
            </a:r>
          </a:p>
          <a:p>
            <a:r>
              <a:rPr dirty="0">
                <a:latin typeface="Times New Roman" panose="02020603050405020304" pitchFamily="18" charset="0"/>
                <a:cs typeface="Times New Roman" panose="02020603050405020304" pitchFamily="18" charset="0"/>
              </a:rPr>
              <a:t>What do the issue/return, popular-book, category and monthly-trend results tell us?</a:t>
            </a:r>
          </a:p>
        </p:txBody>
      </p:sp>
      <p:sp>
        <p:nvSpPr>
          <p:cNvPr id="14" name="Rounded Rectangle 13"/>
          <p:cNvSpPr/>
          <p:nvPr/>
        </p:nvSpPr>
        <p:spPr>
          <a:xfrm>
            <a:off x="8056552" y="3391834"/>
            <a:ext cx="3474720" cy="1378968"/>
          </a:xfrm>
          <a:prstGeom prst="roundRect">
            <a:avLst/>
          </a:prstGeom>
          <a:solidFill>
            <a:srgbClr val="F2F5F9"/>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221144" y="3391834"/>
            <a:ext cx="3145536" cy="1200329"/>
          </a:xfrm>
          <a:prstGeom prst="rect">
            <a:avLst/>
          </a:prstGeom>
          <a:noFill/>
        </p:spPr>
        <p:txBody>
          <a:bodyPr wrap="square">
            <a:spAutoFit/>
          </a:bodyPr>
          <a:lstStyle/>
          <a:p>
            <a:r>
              <a:rPr b="1" dirty="0">
                <a:solidFill>
                  <a:schemeClr val="tx2">
                    <a:lumMod val="75000"/>
                  </a:schemeClr>
                </a:solidFill>
                <a:latin typeface="Times New Roman" panose="02020603050405020304" pitchFamily="18" charset="0"/>
                <a:cs typeface="Times New Roman" panose="02020603050405020304" pitchFamily="18" charset="0"/>
              </a:rPr>
              <a:t>Contribution</a:t>
            </a:r>
          </a:p>
          <a:p>
            <a:r>
              <a:rPr dirty="0">
                <a:latin typeface="Times New Roman" panose="02020603050405020304" pitchFamily="18" charset="0"/>
                <a:cs typeface="Times New Roman" panose="02020603050405020304" pitchFamily="18" charset="0"/>
              </a:rPr>
              <a:t>Which part did you personally implement? What problems did you face and solve?</a:t>
            </a:r>
          </a:p>
        </p:txBody>
      </p:sp>
      <p:sp>
        <p:nvSpPr>
          <p:cNvPr id="16" name="TextBox 15"/>
          <p:cNvSpPr txBox="1"/>
          <p:nvPr/>
        </p:nvSpPr>
        <p:spPr>
          <a:xfrm>
            <a:off x="868680" y="5107368"/>
            <a:ext cx="10424160" cy="646331"/>
          </a:xfrm>
          <a:prstGeom prst="rect">
            <a:avLst/>
          </a:prstGeom>
          <a:noFill/>
        </p:spPr>
        <p:txBody>
          <a:bodyPr wrap="square">
            <a:spAutoFit/>
          </a:bodyPr>
          <a:lstStyle/>
          <a:p>
            <a:r>
              <a:rPr dirty="0">
                <a:latin typeface="Times New Roman" panose="02020603050405020304" pitchFamily="18" charset="0"/>
                <a:cs typeface="Times New Roman" panose="02020603050405020304" pitchFamily="18" charset="0"/>
              </a:rPr>
              <a:t>A student should be able to run or explain the relevant code, interpret its output, and defend the choices made. Viva is an individual assessment even when the project is completed as a team.</a:t>
            </a:r>
          </a:p>
        </p:txBody>
      </p:sp>
      <p:pic>
        <p:nvPicPr>
          <p:cNvPr id="18" name="object 3">
            <a:extLst>
              <a:ext uri="{FF2B5EF4-FFF2-40B4-BE49-F238E27FC236}">
                <a16:creationId xmlns:a16="http://schemas.microsoft.com/office/drawing/2014/main" id="{848BB763-7D52-7603-20D3-2D7B5903210F}"/>
              </a:ext>
            </a:extLst>
          </p:cNvPr>
          <p:cNvPicPr/>
          <p:nvPr/>
        </p:nvPicPr>
        <p:blipFill>
          <a:blip r:embed="rId2" cstate="print"/>
          <a:stretch>
            <a:fillRect/>
          </a:stretch>
        </p:blipFill>
        <p:spPr>
          <a:xfrm>
            <a:off x="290750" y="204310"/>
            <a:ext cx="1361070" cy="49918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594360" y="841152"/>
            <a:ext cx="10972800" cy="594360"/>
          </a:xfrm>
          <a:prstGeom prst="rect">
            <a:avLst/>
          </a:prstGeom>
          <a:noFill/>
        </p:spPr>
        <p:txBody>
          <a:bodyPr wrap="none">
            <a:spAutoFit/>
          </a:bodyPr>
          <a:lstStyle/>
          <a:p>
            <a:pPr>
              <a:defRPr sz="2600" b="1">
                <a:solidFill>
                  <a:srgbClr val="1F3756"/>
                </a:solidFill>
              </a:defRPr>
            </a:pPr>
            <a:r>
              <a:rPr dirty="0"/>
              <a:t>CONCLUSION — SECOND REVIEW</a:t>
            </a:r>
          </a:p>
        </p:txBody>
      </p:sp>
      <p:sp>
        <p:nvSpPr>
          <p:cNvPr id="4" name="TextBox 3"/>
          <p:cNvSpPr txBox="1"/>
          <p:nvPr/>
        </p:nvSpPr>
        <p:spPr>
          <a:xfrm>
            <a:off x="777240" y="1702457"/>
            <a:ext cx="10607040" cy="2031325"/>
          </a:xfrm>
          <a:prstGeom prst="rect">
            <a:avLst/>
          </a:prstGeom>
          <a:noFill/>
        </p:spPr>
        <p:txBody>
          <a:bodyPr wrap="square">
            <a:spAutoFit/>
          </a:bodyPr>
          <a:lstStyle/>
          <a:p>
            <a:r>
              <a:rPr dirty="0">
                <a:latin typeface="Times New Roman" panose="02020603050405020304" pitchFamily="18" charset="0"/>
                <a:cs typeface="Times New Roman" panose="02020603050405020304" pitchFamily="18" charset="0"/>
              </a:rPr>
              <a:t>The Library Management Data Analysis System demonstrates a complete data-analysis workflow.</a:t>
            </a:r>
          </a:p>
          <a:p>
            <a:r>
              <a:rPr dirty="0">
                <a:latin typeface="Times New Roman" panose="02020603050405020304" pitchFamily="18" charset="0"/>
                <a:cs typeface="Times New Roman" panose="02020603050405020304" pitchFamily="18" charset="0"/>
              </a:rPr>
              <a:t>The library records were inspected, cleaned, transformed and analyzed.</a:t>
            </a:r>
          </a:p>
          <a:p>
            <a:r>
              <a:rPr dirty="0">
                <a:latin typeface="Times New Roman" panose="02020603050405020304" pitchFamily="18" charset="0"/>
                <a:cs typeface="Times New Roman" panose="02020603050405020304" pitchFamily="18" charset="0"/>
              </a:rPr>
              <a:t>EDA and visualizations are used to identify borrowing patterns, popular books, student borrowing activity and category-wise usage.</a:t>
            </a:r>
            <a:endParaRPr lang="en-US" dirty="0">
              <a:latin typeface="Times New Roman" panose="02020603050405020304" pitchFamily="18" charset="0"/>
              <a:cs typeface="Times New Roman" panose="02020603050405020304" pitchFamily="18" charset="0"/>
            </a:endParaRPr>
          </a:p>
          <a:p>
            <a:endParaRPr dirty="0">
              <a:latin typeface="Times New Roman" panose="02020603050405020304" pitchFamily="18" charset="0"/>
              <a:cs typeface="Times New Roman" panose="02020603050405020304" pitchFamily="18" charset="0"/>
            </a:endParaRPr>
          </a:p>
          <a:p>
            <a:r>
              <a:rPr dirty="0">
                <a:latin typeface="Times New Roman" panose="02020603050405020304" pitchFamily="18" charset="0"/>
                <a:cs typeface="Times New Roman" panose="02020603050405020304" pitchFamily="18" charset="0"/>
              </a:rPr>
              <a:t>The final analysis supports better understanding of library usage and can be extended with book recommendation features.</a:t>
            </a:r>
          </a:p>
        </p:txBody>
      </p:sp>
      <p:pic>
        <p:nvPicPr>
          <p:cNvPr id="8" name="object 3">
            <a:extLst>
              <a:ext uri="{FF2B5EF4-FFF2-40B4-BE49-F238E27FC236}">
                <a16:creationId xmlns:a16="http://schemas.microsoft.com/office/drawing/2014/main" id="{5340D3B1-A129-AAB3-4A8C-C03BB3896133}"/>
              </a:ext>
            </a:extLst>
          </p:cNvPr>
          <p:cNvPicPr/>
          <p:nvPr/>
        </p:nvPicPr>
        <p:blipFill>
          <a:blip r:embed="rId2" cstate="print"/>
          <a:stretch>
            <a:fillRect/>
          </a:stretch>
        </p:blipFill>
        <p:spPr>
          <a:xfrm>
            <a:off x="290750" y="204310"/>
            <a:ext cx="1361070" cy="499189"/>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3156149" y="2468880"/>
            <a:ext cx="6238568" cy="2554545"/>
          </a:xfrm>
          <a:prstGeom prst="rect">
            <a:avLst/>
          </a:prstGeom>
          <a:noFill/>
        </p:spPr>
        <p:txBody>
          <a:bodyPr wrap="square">
            <a:spAutoFit/>
          </a:bodyPr>
          <a:lstStyle/>
          <a:p>
            <a:r>
              <a:rPr sz="8000" dirty="0">
                <a:latin typeface="Times New Roman" panose="02020603050405020304" pitchFamily="18" charset="0"/>
                <a:cs typeface="Times New Roman" panose="02020603050405020304" pitchFamily="18" charset="0"/>
              </a:rPr>
              <a:t>THANK YO</a:t>
            </a:r>
            <a:r>
              <a:rPr lang="en-US" sz="8000" dirty="0">
                <a:latin typeface="Times New Roman" panose="02020603050405020304" pitchFamily="18" charset="0"/>
                <a:cs typeface="Times New Roman" panose="02020603050405020304" pitchFamily="18" charset="0"/>
              </a:rPr>
              <a:t>U</a:t>
            </a:r>
            <a:endParaRPr sz="8000" dirty="0">
              <a:latin typeface="Times New Roman" panose="02020603050405020304" pitchFamily="18" charset="0"/>
              <a:cs typeface="Times New Roman" panose="02020603050405020304" pitchFamily="18" charset="0"/>
            </a:endParaRPr>
          </a:p>
          <a:p>
            <a:endParaRPr sz="8000" dirty="0">
              <a:latin typeface="Algerian" panose="04020705040A02060702" pitchFamily="82"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507</TotalTime>
  <Words>1079</Words>
  <Application>Microsoft Office PowerPoint</Application>
  <PresentationFormat>Widescreen</PresentationFormat>
  <Paragraphs>153</Paragraphs>
  <Slides>15</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Algerian</vt: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HP</dc:creator>
  <cp:keywords/>
  <dc:description>generated using python-pptx</dc:description>
  <cp:lastModifiedBy>J Sahithi</cp:lastModifiedBy>
  <cp:revision>10</cp:revision>
  <dcterms:created xsi:type="dcterms:W3CDTF">2013-01-27T09:14:16Z</dcterms:created>
  <dcterms:modified xsi:type="dcterms:W3CDTF">2026-10-18T06:50:48Z</dcterms:modified>
  <cp:category/>
</cp:coreProperties>
</file>